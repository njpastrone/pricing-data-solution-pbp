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571" r:id="rId2"/>
    <p:sldId id="1087" r:id="rId3"/>
    <p:sldId id="1088" r:id="rId4"/>
    <p:sldId id="1089" r:id="rId5"/>
    <p:sldId id="1091" r:id="rId6"/>
    <p:sldId id="646" r:id="rId7"/>
    <p:sldId id="813" r:id="rId8"/>
    <p:sldId id="1092" r:id="rId9"/>
    <p:sldId id="1090" r:id="rId10"/>
    <p:sldId id="816" r:id="rId11"/>
    <p:sldId id="1094" r:id="rId12"/>
    <p:sldId id="4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06"/>
    <p:restoredTop sz="94694"/>
  </p:normalViewPr>
  <p:slideViewPr>
    <p:cSldViewPr snapToGrid="0">
      <p:cViewPr varScale="1">
        <p:scale>
          <a:sx n="116" d="100"/>
          <a:sy n="116" d="100"/>
        </p:scale>
        <p:origin x="224" y="29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F9D51-5D89-49E8-8F65-29776F9456F7}" type="datetimeFigureOut">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FF9C8-0533-4B9F-9986-E6B99EB375EF}" type="slidenum">
              <a:t>‹#›</a:t>
            </a:fld>
            <a:endParaRPr lang="en-US"/>
          </a:p>
        </p:txBody>
      </p:sp>
    </p:spTree>
    <p:extLst>
      <p:ext uri="{BB962C8B-B14F-4D97-AF65-F5344CB8AC3E}">
        <p14:creationId xmlns:p14="http://schemas.microsoft.com/office/powerpoint/2010/main" val="1231094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748453" y="4704004"/>
            <a:ext cx="5987627" cy="3848732"/>
          </a:xfrm>
          <a:prstGeom prst="rect">
            <a:avLst/>
          </a:prstGeom>
        </p:spPr>
        <p:txBody>
          <a:bodyPr spcFirstLastPara="1" wrap="square" lIns="98602" tIns="49301" rIns="98602" bIns="49301" anchor="t" anchorCtr="0">
            <a:noAutofit/>
          </a:bodyPr>
          <a:lstStyle/>
          <a:p>
            <a:endParaRPr/>
          </a:p>
        </p:txBody>
      </p:sp>
      <p:sp>
        <p:nvSpPr>
          <p:cNvPr id="146" name="Google Shape;146;p6:notes"/>
          <p:cNvSpPr>
            <a:spLocks noGrp="1" noRot="1" noChangeAspect="1"/>
          </p:cNvSpPr>
          <p:nvPr>
            <p:ph type="sldImg" idx="2"/>
          </p:nvPr>
        </p:nvSpPr>
        <p:spPr>
          <a:xfrm>
            <a:off x="809625" y="1222375"/>
            <a:ext cx="5864225" cy="3298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6214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AE789A-DD01-1A42-B2C7-7904CDEE3358}" type="slidenum">
              <a:rPr lang="en-US" smtClean="0"/>
              <a:t>12</a:t>
            </a:fld>
            <a:endParaRPr lang="en-US" dirty="0"/>
          </a:p>
        </p:txBody>
      </p:sp>
    </p:spTree>
    <p:extLst>
      <p:ext uri="{BB962C8B-B14F-4D97-AF65-F5344CB8AC3E}">
        <p14:creationId xmlns:p14="http://schemas.microsoft.com/office/powerpoint/2010/main" val="992791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2.png"/><Relationship Id="rId3" Type="http://schemas.openxmlformats.org/officeDocument/2006/relationships/image" Target="../media/image18.png"/><Relationship Id="rId21" Type="http://schemas.openxmlformats.org/officeDocument/2006/relationships/image" Target="../media/image35.png"/><Relationship Id="rId7" Type="http://schemas.openxmlformats.org/officeDocument/2006/relationships/image" Target="../media/image22.png"/><Relationship Id="rId12" Type="http://schemas.openxmlformats.org/officeDocument/2006/relationships/image" Target="../media/image27.jpeg"/><Relationship Id="rId17" Type="http://schemas.openxmlformats.org/officeDocument/2006/relationships/image" Target="../media/image31.png"/><Relationship Id="rId2" Type="http://schemas.openxmlformats.org/officeDocument/2006/relationships/image" Target="../media/image17.png"/><Relationship Id="rId16" Type="http://schemas.openxmlformats.org/officeDocument/2006/relationships/image" Target="../media/image4.png"/><Relationship Id="rId20"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emf"/><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3.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jpeg"/></Relationships>
</file>

<file path=ppt/slides/_rels/slide9.xml.rels><?xml version="1.0" encoding="UTF-8" standalone="yes"?>
<Relationships xmlns="http://schemas.openxmlformats.org/package/2006/relationships"><Relationship Id="rId8" Type="http://schemas.openxmlformats.org/officeDocument/2006/relationships/image" Target="../media/image47.jpeg"/><Relationship Id="rId13" Type="http://schemas.openxmlformats.org/officeDocument/2006/relationships/image" Target="../media/image52.png"/><Relationship Id="rId3" Type="http://schemas.openxmlformats.org/officeDocument/2006/relationships/image" Target="../media/image42.jpeg"/><Relationship Id="rId7" Type="http://schemas.openxmlformats.org/officeDocument/2006/relationships/image" Target="../media/image46.jpeg"/><Relationship Id="rId12" Type="http://schemas.openxmlformats.org/officeDocument/2006/relationships/image" Target="../media/image51.jpe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5.jpeg"/><Relationship Id="rId11" Type="http://schemas.openxmlformats.org/officeDocument/2006/relationships/image" Target="../media/image50.jpeg"/><Relationship Id="rId5" Type="http://schemas.openxmlformats.org/officeDocument/2006/relationships/image" Target="../media/image44.jpe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www.instagram.com/pbpinternational/" TargetMode="External"/><Relationship Id="rId13" Type="http://schemas.openxmlformats.org/officeDocument/2006/relationships/image" Target="../media/image59.jpeg"/><Relationship Id="rId18" Type="http://schemas.openxmlformats.org/officeDocument/2006/relationships/hyperlink" Target="mailto:Lauri@pbpinternational.com" TargetMode="External"/><Relationship Id="rId3" Type="http://schemas.openxmlformats.org/officeDocument/2006/relationships/image" Target="../media/image54.jpeg"/><Relationship Id="rId7" Type="http://schemas.openxmlformats.org/officeDocument/2006/relationships/image" Target="../media/image56.png"/><Relationship Id="rId12" Type="http://schemas.openxmlformats.org/officeDocument/2006/relationships/hyperlink" Target="mailto:hello@pbpinternational.com" TargetMode="External"/><Relationship Id="rId17" Type="http://schemas.openxmlformats.org/officeDocument/2006/relationships/image" Target="../media/image63.jpeg"/><Relationship Id="rId2" Type="http://schemas.openxmlformats.org/officeDocument/2006/relationships/notesSlide" Target="../notesSlides/notesSlide2.xml"/><Relationship Id="rId16" Type="http://schemas.openxmlformats.org/officeDocument/2006/relationships/image" Target="../media/image62.jpeg"/><Relationship Id="rId1" Type="http://schemas.openxmlformats.org/officeDocument/2006/relationships/slideLayout" Target="../slideLayouts/slideLayout7.xml"/><Relationship Id="rId6" Type="http://schemas.openxmlformats.org/officeDocument/2006/relationships/hyperlink" Target="https://www.linkedin.com/company/peace-by-piece-international" TargetMode="External"/><Relationship Id="rId11" Type="http://schemas.openxmlformats.org/officeDocument/2006/relationships/hyperlink" Target="https://twitter.com/pbpinternation" TargetMode="External"/><Relationship Id="rId5" Type="http://schemas.openxmlformats.org/officeDocument/2006/relationships/image" Target="../media/image55.png"/><Relationship Id="rId15" Type="http://schemas.openxmlformats.org/officeDocument/2006/relationships/image" Target="../media/image61.jpeg"/><Relationship Id="rId10" Type="http://schemas.openxmlformats.org/officeDocument/2006/relationships/image" Target="../media/image58.png"/><Relationship Id="rId19" Type="http://schemas.openxmlformats.org/officeDocument/2006/relationships/image" Target="../media/image4.png"/><Relationship Id="rId4" Type="http://schemas.openxmlformats.org/officeDocument/2006/relationships/hyperlink" Target="https://www.facebook.com/pbpinternational/" TargetMode="External"/><Relationship Id="rId9" Type="http://schemas.openxmlformats.org/officeDocument/2006/relationships/image" Target="../media/image57.png"/><Relationship Id="rId1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88FD125-9CE4-2E2E-478A-E70B0A1AF836}"/>
              </a:ext>
            </a:extLst>
          </p:cNvPr>
          <p:cNvSpPr>
            <a:spLocks/>
          </p:cNvSpPr>
          <p:nvPr/>
        </p:nvSpPr>
        <p:spPr>
          <a:xfrm>
            <a:off x="1722968" y="4826376"/>
            <a:ext cx="8889133" cy="1609612"/>
          </a:xfrm>
          <a:prstGeom prst="rect">
            <a:avLst/>
          </a:prstGeom>
        </p:spPr>
        <p:txBody>
          <a:bodyPr lIns="91440" tIns="45720" rIns="91440" bIns="45720" anchor="t">
            <a:normAutofit/>
          </a:bodyPr>
          <a:lstStyle/>
          <a:p>
            <a:pPr algn="ctr" defTabSz="886968">
              <a:spcAft>
                <a:spcPts val="600"/>
              </a:spcAft>
            </a:pPr>
            <a:r>
              <a:rPr lang="en-US" sz="2800" dirty="0">
                <a:solidFill>
                  <a:srgbClr val="52D09D"/>
                </a:solidFill>
                <a:latin typeface="Impact" panose="020B0806030902050204" pitchFamily="34" charset="0"/>
              </a:rPr>
              <a:t>CAPTION HERE</a:t>
            </a:r>
          </a:p>
        </p:txBody>
      </p:sp>
      <p:pic>
        <p:nvPicPr>
          <p:cNvPr id="6" name="Picture 5" descr="A black and white logo&#10;&#10;Description automatically generated">
            <a:extLst>
              <a:ext uri="{FF2B5EF4-FFF2-40B4-BE49-F238E27FC236}">
                <a16:creationId xmlns:a16="http://schemas.microsoft.com/office/drawing/2014/main" id="{8E267EAB-E214-182C-FC31-E3D594B8367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670784" y="3752319"/>
            <a:ext cx="4578693" cy="722515"/>
          </a:xfrm>
          <a:prstGeom prst="rect">
            <a:avLst/>
          </a:prstGeom>
        </p:spPr>
      </p:pic>
      <p:sp>
        <p:nvSpPr>
          <p:cNvPr id="7" name="TextBox 6">
            <a:extLst>
              <a:ext uri="{FF2B5EF4-FFF2-40B4-BE49-F238E27FC236}">
                <a16:creationId xmlns:a16="http://schemas.microsoft.com/office/drawing/2014/main" id="{4B89179D-3FD7-8DA0-0A62-D16F4F78B202}"/>
              </a:ext>
            </a:extLst>
          </p:cNvPr>
          <p:cNvSpPr txBox="1"/>
          <p:nvPr/>
        </p:nvSpPr>
        <p:spPr>
          <a:xfrm>
            <a:off x="5785576" y="2848910"/>
            <a:ext cx="449109" cy="628316"/>
          </a:xfrm>
          <a:prstGeom prst="rect">
            <a:avLst/>
          </a:prstGeom>
          <a:noFill/>
        </p:spPr>
        <p:txBody>
          <a:bodyPr wrap="none" rtlCol="0">
            <a:spAutoFit/>
          </a:bodyPr>
          <a:lstStyle/>
          <a:p>
            <a:pPr defTabSz="886968">
              <a:spcAft>
                <a:spcPts val="600"/>
              </a:spcAft>
            </a:pPr>
            <a:r>
              <a:rPr lang="en-US" sz="3492" b="1" kern="1200" dirty="0">
                <a:solidFill>
                  <a:schemeClr val="tx1"/>
                </a:solidFill>
                <a:latin typeface="+mn-lt"/>
                <a:ea typeface="+mn-ea"/>
                <a:cs typeface="+mn-cs"/>
              </a:rPr>
              <a:t>X</a:t>
            </a:r>
            <a:endParaRPr lang="en-US" sz="3600" b="1" dirty="0"/>
          </a:p>
        </p:txBody>
      </p:sp>
      <p:pic>
        <p:nvPicPr>
          <p:cNvPr id="2" name="Picture 1" descr="A picture containing text, sign&#10;&#10;Description automatically generated">
            <a:extLst>
              <a:ext uri="{FF2B5EF4-FFF2-40B4-BE49-F238E27FC236}">
                <a16:creationId xmlns:a16="http://schemas.microsoft.com/office/drawing/2014/main" id="{D6D9A8C5-E8D2-4778-834A-62DA9E8483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3664" y="5658599"/>
            <a:ext cx="1575842" cy="889290"/>
          </a:xfrm>
          <a:prstGeom prst="rect">
            <a:avLst/>
          </a:prstGeom>
        </p:spPr>
      </p:pic>
    </p:spTree>
    <p:extLst>
      <p:ext uri="{BB962C8B-B14F-4D97-AF65-F5344CB8AC3E}">
        <p14:creationId xmlns:p14="http://schemas.microsoft.com/office/powerpoint/2010/main" val="28599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urple circle with white text&#10;&#10;AI-generated content may be incorrect.">
            <a:extLst>
              <a:ext uri="{FF2B5EF4-FFF2-40B4-BE49-F238E27FC236}">
                <a16:creationId xmlns:a16="http://schemas.microsoft.com/office/drawing/2014/main" id="{0F69AB4F-50AD-7EC2-37C2-F22DF08F6E3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410450" y="3530152"/>
            <a:ext cx="2899193" cy="2726614"/>
          </a:xfrm>
          <a:prstGeom prst="rect">
            <a:avLst/>
          </a:prstGeom>
        </p:spPr>
      </p:pic>
      <p:sp>
        <p:nvSpPr>
          <p:cNvPr id="7" name="TextBox 6">
            <a:extLst>
              <a:ext uri="{FF2B5EF4-FFF2-40B4-BE49-F238E27FC236}">
                <a16:creationId xmlns:a16="http://schemas.microsoft.com/office/drawing/2014/main" id="{663D68E4-03A7-0D8A-F44C-AEA64C338180}"/>
              </a:ext>
            </a:extLst>
          </p:cNvPr>
          <p:cNvSpPr txBox="1"/>
          <p:nvPr/>
        </p:nvSpPr>
        <p:spPr>
          <a:xfrm rot="5400000">
            <a:off x="9166378" y="3716053"/>
            <a:ext cx="386805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libri"/>
                <a:ea typeface="Calibri"/>
                <a:cs typeface="Calibri"/>
              </a:rPr>
              <a:t>CORPORATE GIFTING DONE RIGHT</a:t>
            </a:r>
          </a:p>
        </p:txBody>
      </p:sp>
      <p:cxnSp>
        <p:nvCxnSpPr>
          <p:cNvPr id="13" name="Straight Arrow Connector 12">
            <a:extLst>
              <a:ext uri="{FF2B5EF4-FFF2-40B4-BE49-F238E27FC236}">
                <a16:creationId xmlns:a16="http://schemas.microsoft.com/office/drawing/2014/main" id="{4FFCFD71-DC76-BF35-B469-572E056CB965}"/>
              </a:ext>
            </a:extLst>
          </p:cNvPr>
          <p:cNvCxnSpPr>
            <a:cxnSpLocks/>
          </p:cNvCxnSpPr>
          <p:nvPr/>
        </p:nvCxnSpPr>
        <p:spPr>
          <a:xfrm flipH="1">
            <a:off x="10861522" y="1705428"/>
            <a:ext cx="24191" cy="4330094"/>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3CA7655-11EE-25B6-12E0-15C2A0144676}"/>
              </a:ext>
            </a:extLst>
          </p:cNvPr>
          <p:cNvSpPr>
            <a:spLocks noGrp="1"/>
          </p:cNvSpPr>
          <p:nvPr>
            <p:ph type="title"/>
          </p:nvPr>
        </p:nvSpPr>
        <p:spPr>
          <a:xfrm>
            <a:off x="345922" y="112811"/>
            <a:ext cx="10515600" cy="1325563"/>
          </a:xfrm>
        </p:spPr>
        <p:txBody>
          <a:bodyPr>
            <a:normAutofit/>
          </a:bodyPr>
          <a:lstStyle/>
          <a:p>
            <a:r>
              <a:rPr lang="en-US" sz="4800" dirty="0">
                <a:solidFill>
                  <a:srgbClr val="52D09D"/>
                </a:solidFill>
                <a:latin typeface="Impact" panose="020B0806030902050204" pitchFamily="34" charset="0"/>
                <a:cs typeface="Poppins Black" panose="00000A00000000000000" pitchFamily="2" charset="0"/>
              </a:rPr>
              <a:t>WHY PARTNER WITH PEACE BY PIECE?</a:t>
            </a:r>
          </a:p>
        </p:txBody>
      </p:sp>
      <p:pic>
        <p:nvPicPr>
          <p:cNvPr id="3" name="Picture 2">
            <a:extLst>
              <a:ext uri="{FF2B5EF4-FFF2-40B4-BE49-F238E27FC236}">
                <a16:creationId xmlns:a16="http://schemas.microsoft.com/office/drawing/2014/main" id="{E7A2DB5C-7612-2577-8289-709218EF182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
        <p:nvSpPr>
          <p:cNvPr id="5" name="TextBox 4">
            <a:extLst>
              <a:ext uri="{FF2B5EF4-FFF2-40B4-BE49-F238E27FC236}">
                <a16:creationId xmlns:a16="http://schemas.microsoft.com/office/drawing/2014/main" id="{16D0429C-906E-B5AC-68D2-E1C558EC0335}"/>
              </a:ext>
            </a:extLst>
          </p:cNvPr>
          <p:cNvSpPr txBox="1"/>
          <p:nvPr/>
        </p:nvSpPr>
        <p:spPr>
          <a:xfrm>
            <a:off x="436621" y="1353074"/>
            <a:ext cx="7116704"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dirty="0">
                <a:solidFill>
                  <a:schemeClr val="tx1">
                    <a:lumMod val="95000"/>
                    <a:lumOff val="5000"/>
                  </a:schemeClr>
                </a:solidFill>
                <a:latin typeface="Calibri"/>
                <a:ea typeface="Calibri"/>
                <a:cs typeface="Calibri"/>
              </a:rPr>
              <a:t>We help you </a:t>
            </a:r>
            <a:r>
              <a:rPr lang="en-US" sz="2400" b="1" dirty="0">
                <a:solidFill>
                  <a:schemeClr val="tx1">
                    <a:lumMod val="95000"/>
                    <a:lumOff val="5000"/>
                  </a:schemeClr>
                </a:solidFill>
                <a:latin typeface="Calibri"/>
                <a:ea typeface="Calibri"/>
                <a:cs typeface="Calibri"/>
              </a:rPr>
              <a:t>GIVE SUSTAINABLY &amp; IMPACTFULLY</a:t>
            </a:r>
            <a:r>
              <a:rPr lang="en-US" sz="2400" dirty="0">
                <a:solidFill>
                  <a:schemeClr val="tx1">
                    <a:lumMod val="95000"/>
                    <a:lumOff val="5000"/>
                  </a:schemeClr>
                </a:solidFill>
                <a:latin typeface="Calibri"/>
                <a:ea typeface="Calibri"/>
                <a:cs typeface="Calibri"/>
              </a:rPr>
              <a:t>	</a:t>
            </a:r>
            <a:endParaRPr lang="en-US" dirty="0">
              <a:solidFill>
                <a:schemeClr val="tx1">
                  <a:lumMod val="95000"/>
                  <a:lumOff val="5000"/>
                </a:schemeClr>
              </a:solidFill>
            </a:endParaRPr>
          </a:p>
          <a:p>
            <a:endParaRPr lang="en-US" sz="2400" dirty="0">
              <a:solidFill>
                <a:schemeClr val="tx1">
                  <a:lumMod val="95000"/>
                  <a:lumOff val="5000"/>
                </a:schemeClr>
              </a:solidFill>
              <a:latin typeface="Calibri"/>
              <a:ea typeface="Calibri"/>
              <a:cs typeface="Calibri"/>
            </a:endParaRPr>
          </a:p>
          <a:p>
            <a:pPr marL="342900" indent="-342900">
              <a:buFont typeface="Arial" panose="020B0604020202020204" pitchFamily="34" charset="0"/>
              <a:buChar char="•"/>
            </a:pPr>
            <a:r>
              <a:rPr lang="en-US" sz="2400" dirty="0">
                <a:solidFill>
                  <a:schemeClr val="tx1">
                    <a:lumMod val="95000"/>
                    <a:lumOff val="5000"/>
                  </a:schemeClr>
                </a:solidFill>
                <a:latin typeface="Calibri"/>
                <a:ea typeface="Calibri"/>
                <a:cs typeface="Calibri"/>
              </a:rPr>
              <a:t>Together, we create dignified work for </a:t>
            </a:r>
            <a:r>
              <a:rPr lang="en-US" sz="2400" b="1" dirty="0">
                <a:solidFill>
                  <a:schemeClr val="tx1">
                    <a:lumMod val="95000"/>
                    <a:lumOff val="5000"/>
                  </a:schemeClr>
                </a:solidFill>
                <a:latin typeface="Calibri"/>
                <a:ea typeface="Calibri"/>
                <a:cs typeface="Calibri"/>
              </a:rPr>
              <a:t>30+ underserved communities</a:t>
            </a:r>
            <a:r>
              <a:rPr lang="en-US" sz="2400" dirty="0">
                <a:solidFill>
                  <a:schemeClr val="tx1">
                    <a:lumMod val="95000"/>
                    <a:lumOff val="5000"/>
                  </a:schemeClr>
                </a:solidFill>
                <a:latin typeface="Calibri"/>
                <a:ea typeface="Calibri"/>
                <a:cs typeface="Calibri"/>
              </a:rPr>
              <a:t> in the US and globally</a:t>
            </a:r>
          </a:p>
          <a:p>
            <a:endParaRPr lang="en-US" sz="2400" dirty="0">
              <a:solidFill>
                <a:schemeClr val="tx1">
                  <a:lumMod val="95000"/>
                  <a:lumOff val="5000"/>
                </a:schemeClr>
              </a:solidFill>
              <a:latin typeface="Calibri"/>
              <a:ea typeface="Calibri"/>
              <a:cs typeface="Calibri"/>
            </a:endParaRPr>
          </a:p>
          <a:p>
            <a:pPr marL="342900" indent="-342900">
              <a:buFont typeface="Arial" panose="020B0604020202020204" pitchFamily="34" charset="0"/>
              <a:buChar char="•"/>
            </a:pPr>
            <a:r>
              <a:rPr lang="en-US" sz="2400" dirty="0">
                <a:solidFill>
                  <a:schemeClr val="tx1">
                    <a:lumMod val="95000"/>
                    <a:lumOff val="5000"/>
                  </a:schemeClr>
                </a:solidFill>
                <a:latin typeface="Calibri"/>
                <a:ea typeface="Calibri"/>
                <a:cs typeface="Calibri"/>
              </a:rPr>
              <a:t>Our gifts impact the lives of </a:t>
            </a:r>
            <a:r>
              <a:rPr lang="en-US" sz="2400" b="1" dirty="0">
                <a:solidFill>
                  <a:schemeClr val="tx1">
                    <a:lumMod val="95000"/>
                    <a:lumOff val="5000"/>
                  </a:schemeClr>
                </a:solidFill>
                <a:latin typeface="Calibri"/>
                <a:ea typeface="Calibri"/>
                <a:cs typeface="Calibri"/>
              </a:rPr>
              <a:t>400+ individuals</a:t>
            </a:r>
          </a:p>
          <a:p>
            <a:endParaRPr lang="en-US" sz="2400" dirty="0">
              <a:solidFill>
                <a:schemeClr val="tx1">
                  <a:lumMod val="95000"/>
                  <a:lumOff val="5000"/>
                </a:schemeClr>
              </a:solidFill>
              <a:latin typeface="Calibri"/>
              <a:ea typeface="Calibri"/>
              <a:cs typeface="Calibri"/>
            </a:endParaRPr>
          </a:p>
          <a:p>
            <a:pPr marL="342900" indent="-342900">
              <a:buFont typeface="Arial" panose="020B0604020202020204" pitchFamily="34" charset="0"/>
              <a:buChar char="•"/>
            </a:pPr>
            <a:r>
              <a:rPr lang="en-US" sz="2400" dirty="0">
                <a:solidFill>
                  <a:schemeClr val="tx1">
                    <a:lumMod val="95000"/>
                    <a:lumOff val="5000"/>
                  </a:schemeClr>
                </a:solidFill>
                <a:latin typeface="Calibri"/>
                <a:ea typeface="Calibri"/>
                <a:cs typeface="Calibri"/>
              </a:rPr>
              <a:t>We are </a:t>
            </a:r>
            <a:r>
              <a:rPr lang="en-US" sz="2400" b="1" dirty="0">
                <a:solidFill>
                  <a:schemeClr val="tx1">
                    <a:lumMod val="95000"/>
                    <a:lumOff val="5000"/>
                  </a:schemeClr>
                </a:solidFill>
                <a:latin typeface="Calibri"/>
                <a:ea typeface="Calibri"/>
                <a:cs typeface="Calibri"/>
              </a:rPr>
              <a:t>Silicon Valley-based</a:t>
            </a:r>
          </a:p>
          <a:p>
            <a:pPr marL="342900" indent="-342900">
              <a:buFont typeface="Arial" panose="020B0604020202020204" pitchFamily="34" charset="0"/>
              <a:buChar char="•"/>
            </a:pPr>
            <a:endParaRPr lang="en-US" sz="2400" dirty="0">
              <a:solidFill>
                <a:schemeClr val="tx1">
                  <a:lumMod val="95000"/>
                  <a:lumOff val="5000"/>
                </a:schemeClr>
              </a:solidFill>
              <a:latin typeface="Calibri"/>
              <a:ea typeface="Calibri"/>
              <a:cs typeface="Calibri"/>
            </a:endParaRPr>
          </a:p>
          <a:p>
            <a:pPr marL="342900" indent="-342900">
              <a:buFont typeface="Arial" panose="020B0604020202020204" pitchFamily="34" charset="0"/>
              <a:buChar char="•"/>
            </a:pPr>
            <a:r>
              <a:rPr lang="en-US" sz="2400" dirty="0">
                <a:solidFill>
                  <a:schemeClr val="tx1">
                    <a:lumMod val="95000"/>
                    <a:lumOff val="5000"/>
                  </a:schemeClr>
                </a:solidFill>
                <a:latin typeface="Calibri"/>
                <a:ea typeface="Calibri"/>
                <a:cs typeface="Calibri"/>
              </a:rPr>
              <a:t>We are </a:t>
            </a:r>
            <a:r>
              <a:rPr lang="en-US" sz="2400" b="1" dirty="0">
                <a:solidFill>
                  <a:schemeClr val="tx1">
                    <a:lumMod val="95000"/>
                    <a:lumOff val="5000"/>
                  </a:schemeClr>
                </a:solidFill>
                <a:latin typeface="Calibri"/>
                <a:ea typeface="Calibri"/>
                <a:cs typeface="Calibri"/>
              </a:rPr>
              <a:t>women-owned/WBENC-certified</a:t>
            </a:r>
          </a:p>
          <a:p>
            <a:pPr>
              <a:buFont typeface=""/>
              <a:buChar char="•"/>
            </a:pPr>
            <a:endParaRPr lang="en-US" sz="2400" dirty="0">
              <a:solidFill>
                <a:srgbClr val="354D50"/>
              </a:solidFill>
              <a:latin typeface="Calibri"/>
              <a:ea typeface="Calibri"/>
              <a:cs typeface="Calibri"/>
            </a:endParaRPr>
          </a:p>
        </p:txBody>
      </p:sp>
    </p:spTree>
    <p:extLst>
      <p:ext uri="{BB962C8B-B14F-4D97-AF65-F5344CB8AC3E}">
        <p14:creationId xmlns:p14="http://schemas.microsoft.com/office/powerpoint/2010/main" val="1019522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3E53-A451-3FA5-C193-19B976F7F25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DD851306-E46B-2FBB-B890-14B1B7100975}"/>
              </a:ext>
            </a:extLst>
          </p:cNvPr>
          <p:cNvSpPr txBox="1"/>
          <p:nvPr/>
        </p:nvSpPr>
        <p:spPr>
          <a:xfrm>
            <a:off x="432899" y="2745371"/>
            <a:ext cx="434887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WOMEN'S EMPOWERMENT</a:t>
            </a:r>
          </a:p>
        </p:txBody>
      </p:sp>
      <p:sp>
        <p:nvSpPr>
          <p:cNvPr id="15" name="TextBox 14">
            <a:extLst>
              <a:ext uri="{FF2B5EF4-FFF2-40B4-BE49-F238E27FC236}">
                <a16:creationId xmlns:a16="http://schemas.microsoft.com/office/drawing/2014/main" id="{F0737BA3-81A4-6669-F10C-D150025E2758}"/>
              </a:ext>
            </a:extLst>
          </p:cNvPr>
          <p:cNvSpPr txBox="1"/>
          <p:nvPr/>
        </p:nvSpPr>
        <p:spPr>
          <a:xfrm>
            <a:off x="448800" y="1495621"/>
            <a:ext cx="5349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SUSTAINABILITY</a:t>
            </a:r>
            <a:endParaRPr lang="en-US" sz="3200" dirty="0">
              <a:solidFill>
                <a:schemeClr val="tx1">
                  <a:lumMod val="65000"/>
                  <a:lumOff val="35000"/>
                </a:schemeClr>
              </a:solidFill>
            </a:endParaRPr>
          </a:p>
        </p:txBody>
      </p:sp>
      <p:sp>
        <p:nvSpPr>
          <p:cNvPr id="16" name="TextBox 15">
            <a:extLst>
              <a:ext uri="{FF2B5EF4-FFF2-40B4-BE49-F238E27FC236}">
                <a16:creationId xmlns:a16="http://schemas.microsoft.com/office/drawing/2014/main" id="{648EDA88-8AA6-B1F4-BB34-483A1037D786}"/>
              </a:ext>
            </a:extLst>
          </p:cNvPr>
          <p:cNvSpPr txBox="1"/>
          <p:nvPr/>
        </p:nvSpPr>
        <p:spPr>
          <a:xfrm>
            <a:off x="423373" y="4294950"/>
            <a:ext cx="5349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POVERTY ALLEVIATION</a:t>
            </a:r>
            <a:endParaRPr lang="en-US" sz="3200">
              <a:solidFill>
                <a:schemeClr val="tx1">
                  <a:lumMod val="65000"/>
                  <a:lumOff val="35000"/>
                </a:schemeClr>
              </a:solidFill>
            </a:endParaRPr>
          </a:p>
        </p:txBody>
      </p:sp>
      <p:sp>
        <p:nvSpPr>
          <p:cNvPr id="17" name="TextBox 16">
            <a:extLst>
              <a:ext uri="{FF2B5EF4-FFF2-40B4-BE49-F238E27FC236}">
                <a16:creationId xmlns:a16="http://schemas.microsoft.com/office/drawing/2014/main" id="{E0DD7131-82AC-65EC-61AD-445F09C77634}"/>
              </a:ext>
            </a:extLst>
          </p:cNvPr>
          <p:cNvSpPr txBox="1"/>
          <p:nvPr/>
        </p:nvSpPr>
        <p:spPr>
          <a:xfrm>
            <a:off x="4974225" y="2740795"/>
            <a:ext cx="390307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lumMod val="95000"/>
                    <a:lumOff val="5000"/>
                  </a:schemeClr>
                </a:solidFill>
                <a:latin typeface="Calibri"/>
                <a:ea typeface="+mn-lt"/>
                <a:cs typeface="+mn-lt"/>
              </a:rPr>
              <a:t>Creating opportunities &amp; safe spaces for women through dignified work, economic independence, and leadership development</a:t>
            </a:r>
            <a:endParaRPr lang="en-US" dirty="0">
              <a:solidFill>
                <a:schemeClr val="tx1">
                  <a:lumMod val="95000"/>
                  <a:lumOff val="5000"/>
                </a:schemeClr>
              </a:solidFill>
              <a:latin typeface="Calibri"/>
            </a:endParaRPr>
          </a:p>
        </p:txBody>
      </p:sp>
      <p:sp>
        <p:nvSpPr>
          <p:cNvPr id="18" name="TextBox 17">
            <a:extLst>
              <a:ext uri="{FF2B5EF4-FFF2-40B4-BE49-F238E27FC236}">
                <a16:creationId xmlns:a16="http://schemas.microsoft.com/office/drawing/2014/main" id="{B70A85A5-A40A-A33D-2E66-EE3EB416F367}"/>
              </a:ext>
            </a:extLst>
          </p:cNvPr>
          <p:cNvSpPr txBox="1"/>
          <p:nvPr/>
        </p:nvSpPr>
        <p:spPr>
          <a:xfrm>
            <a:off x="4991326" y="1490896"/>
            <a:ext cx="40175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lumMod val="95000"/>
                    <a:lumOff val="5000"/>
                  </a:schemeClr>
                </a:solidFill>
                <a:latin typeface="Calibri"/>
                <a:ea typeface="+mn-lt"/>
                <a:cs typeface="+mn-lt"/>
              </a:rPr>
              <a:t>Prioritizing eco-friendly materials, ethical production, and lasting social &amp; environmental impact</a:t>
            </a:r>
          </a:p>
        </p:txBody>
      </p:sp>
      <p:sp>
        <p:nvSpPr>
          <p:cNvPr id="19" name="TextBox 18">
            <a:extLst>
              <a:ext uri="{FF2B5EF4-FFF2-40B4-BE49-F238E27FC236}">
                <a16:creationId xmlns:a16="http://schemas.microsoft.com/office/drawing/2014/main" id="{26733C64-C826-BA34-BBFE-A77843D4C1A8}"/>
              </a:ext>
            </a:extLst>
          </p:cNvPr>
          <p:cNvSpPr txBox="1"/>
          <p:nvPr/>
        </p:nvSpPr>
        <p:spPr>
          <a:xfrm>
            <a:off x="4977900" y="4204350"/>
            <a:ext cx="401502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lumMod val="95000"/>
                    <a:lumOff val="5000"/>
                  </a:schemeClr>
                </a:solidFill>
                <a:latin typeface="Calibri"/>
                <a:ea typeface="+mn-lt"/>
                <a:cs typeface="+mn-lt"/>
              </a:rPr>
              <a:t>Breaking cycles of poverty with fair wages, skill-building, and community support. Each individual life impacted can impact the lives of 5 of more individuals</a:t>
            </a:r>
            <a:endParaRPr lang="en-US" dirty="0">
              <a:solidFill>
                <a:schemeClr val="tx1">
                  <a:lumMod val="95000"/>
                  <a:lumOff val="5000"/>
                </a:schemeClr>
              </a:solidFill>
              <a:latin typeface="Calibri"/>
              <a:ea typeface="Calibri"/>
              <a:cs typeface="Calibri"/>
            </a:endParaRPr>
          </a:p>
        </p:txBody>
      </p:sp>
      <p:pic>
        <p:nvPicPr>
          <p:cNvPr id="23" name="Picture 22">
            <a:extLst>
              <a:ext uri="{FF2B5EF4-FFF2-40B4-BE49-F238E27FC236}">
                <a16:creationId xmlns:a16="http://schemas.microsoft.com/office/drawing/2014/main" id="{143A89C6-6003-3A98-0235-4706144C1EE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6460" y="6476023"/>
            <a:ext cx="1945217" cy="281205"/>
          </a:xfrm>
          <a:prstGeom prst="rect">
            <a:avLst/>
          </a:prstGeom>
        </p:spPr>
      </p:pic>
      <p:sp>
        <p:nvSpPr>
          <p:cNvPr id="3" name="Title 1">
            <a:extLst>
              <a:ext uri="{FF2B5EF4-FFF2-40B4-BE49-F238E27FC236}">
                <a16:creationId xmlns:a16="http://schemas.microsoft.com/office/drawing/2014/main" id="{7D85F8F8-5583-B265-1113-8BD0D2C1FE97}"/>
              </a:ext>
            </a:extLst>
          </p:cNvPr>
          <p:cNvSpPr>
            <a:spLocks noGrp="1"/>
          </p:cNvSpPr>
          <p:nvPr>
            <p:ph type="title"/>
          </p:nvPr>
        </p:nvSpPr>
        <p:spPr>
          <a:xfrm>
            <a:off x="371105" y="-11251"/>
            <a:ext cx="10515600" cy="1325563"/>
          </a:xfrm>
        </p:spPr>
        <p:txBody>
          <a:bodyPr>
            <a:normAutofit/>
          </a:bodyPr>
          <a:lstStyle/>
          <a:p>
            <a:r>
              <a:rPr lang="en-US" sz="4800" dirty="0">
                <a:solidFill>
                  <a:srgbClr val="52D09D"/>
                </a:solidFill>
                <a:latin typeface="Impact" panose="020B0806030902050204" pitchFamily="34" charset="0"/>
                <a:cs typeface="Poppins Black" panose="00000A00000000000000" pitchFamily="2" charset="0"/>
              </a:rPr>
              <a:t>OUR THREE IMPACT TRACKS</a:t>
            </a:r>
          </a:p>
        </p:txBody>
      </p:sp>
      <p:pic>
        <p:nvPicPr>
          <p:cNvPr id="24" name="Picture 23" descr="A person holding a pump&#10;&#10;AI-generated content may be incorrect.">
            <a:extLst>
              <a:ext uri="{FF2B5EF4-FFF2-40B4-BE49-F238E27FC236}">
                <a16:creationId xmlns:a16="http://schemas.microsoft.com/office/drawing/2014/main" id="{C1A02755-8323-42ED-0F5E-283F83F80835}"/>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9002450" y="4412"/>
            <a:ext cx="2296318" cy="2319504"/>
          </a:xfrm>
          <a:prstGeom prst="rect">
            <a:avLst/>
          </a:prstGeom>
        </p:spPr>
      </p:pic>
      <p:pic>
        <p:nvPicPr>
          <p:cNvPr id="26" name="Picture 25" descr="A person sitting in a chair with a pile of plastic bottles&#10;&#10;AI-generated content may be incorrect.">
            <a:extLst>
              <a:ext uri="{FF2B5EF4-FFF2-40B4-BE49-F238E27FC236}">
                <a16:creationId xmlns:a16="http://schemas.microsoft.com/office/drawing/2014/main" id="{A482C5E6-299F-CECA-A598-34C6065B0124}"/>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002450" y="2193675"/>
            <a:ext cx="2316165" cy="2319504"/>
          </a:xfrm>
          <a:prstGeom prst="rect">
            <a:avLst/>
          </a:prstGeom>
        </p:spPr>
      </p:pic>
      <p:pic>
        <p:nvPicPr>
          <p:cNvPr id="28" name="Picture 27" descr="A person holding a stack of books&#10;&#10;AI-generated content may be incorrect.">
            <a:extLst>
              <a:ext uri="{FF2B5EF4-FFF2-40B4-BE49-F238E27FC236}">
                <a16:creationId xmlns:a16="http://schemas.microsoft.com/office/drawing/2014/main" id="{63E2DA1F-21DE-74B0-721C-A4DE6D63A6A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008827" y="4514090"/>
            <a:ext cx="2325689" cy="2323549"/>
          </a:xfrm>
          <a:prstGeom prst="rect">
            <a:avLst/>
          </a:prstGeom>
        </p:spPr>
      </p:pic>
    </p:spTree>
    <p:extLst>
      <p:ext uri="{BB962C8B-B14F-4D97-AF65-F5344CB8AC3E}">
        <p14:creationId xmlns:p14="http://schemas.microsoft.com/office/powerpoint/2010/main" val="4049279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C426-61A1-28F9-6DA7-0E994B582EA4}"/>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5AFF2DEB-FA00-F9DD-E8F8-BB3B37505AD0}"/>
              </a:ext>
            </a:extLst>
          </p:cNvPr>
          <p:cNvSpPr txBox="1"/>
          <p:nvPr/>
        </p:nvSpPr>
        <p:spPr>
          <a:xfrm>
            <a:off x="1373068" y="1070699"/>
            <a:ext cx="2301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lumMod val="65000"/>
                    <a:lumOff val="35000"/>
                  </a:schemeClr>
                </a:solidFill>
                <a:latin typeface="Impact"/>
              </a:rPr>
              <a:t>A SAFE &amp; WELCOMING WORK ENVIRONMENT</a:t>
            </a:r>
            <a:endParaRPr lang="en-US" dirty="0">
              <a:solidFill>
                <a:schemeClr val="tx1">
                  <a:lumMod val="65000"/>
                  <a:lumOff val="35000"/>
                </a:schemeClr>
              </a:solidFill>
            </a:endParaRPr>
          </a:p>
        </p:txBody>
      </p:sp>
      <p:sp>
        <p:nvSpPr>
          <p:cNvPr id="15" name="TextBox 14">
            <a:extLst>
              <a:ext uri="{FF2B5EF4-FFF2-40B4-BE49-F238E27FC236}">
                <a16:creationId xmlns:a16="http://schemas.microsoft.com/office/drawing/2014/main" id="{7BAEE5D3-B9FA-65E2-03AA-4BC2ADC79888}"/>
              </a:ext>
            </a:extLst>
          </p:cNvPr>
          <p:cNvSpPr txBox="1"/>
          <p:nvPr/>
        </p:nvSpPr>
        <p:spPr>
          <a:xfrm>
            <a:off x="5456273" y="1045902"/>
            <a:ext cx="19390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lumMod val="65000"/>
                    <a:lumOff val="35000"/>
                  </a:schemeClr>
                </a:solidFill>
                <a:latin typeface="Impact"/>
              </a:rPr>
              <a:t>TRAINING &amp; SKILLS DEVELOPMENT</a:t>
            </a:r>
            <a:endParaRPr lang="en-US" dirty="0">
              <a:solidFill>
                <a:schemeClr val="tx1">
                  <a:lumMod val="65000"/>
                  <a:lumOff val="35000"/>
                </a:schemeClr>
              </a:solidFill>
            </a:endParaRPr>
          </a:p>
        </p:txBody>
      </p:sp>
      <p:sp>
        <p:nvSpPr>
          <p:cNvPr id="16" name="TextBox 15">
            <a:extLst>
              <a:ext uri="{FF2B5EF4-FFF2-40B4-BE49-F238E27FC236}">
                <a16:creationId xmlns:a16="http://schemas.microsoft.com/office/drawing/2014/main" id="{2EEBA73E-113B-8559-F6B1-91CDB0939D1D}"/>
              </a:ext>
            </a:extLst>
          </p:cNvPr>
          <p:cNvSpPr txBox="1"/>
          <p:nvPr/>
        </p:nvSpPr>
        <p:spPr>
          <a:xfrm>
            <a:off x="8830166" y="1070699"/>
            <a:ext cx="26594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tx1">
                    <a:lumMod val="65000"/>
                    <a:lumOff val="35000"/>
                  </a:schemeClr>
                </a:solidFill>
                <a:latin typeface="Impact"/>
              </a:rPr>
              <a:t>A COMMERCIAL STRUCTURE </a:t>
            </a:r>
          </a:p>
          <a:p>
            <a:r>
              <a:rPr lang="en-US" dirty="0">
                <a:solidFill>
                  <a:schemeClr val="tx1">
                    <a:lumMod val="65000"/>
                    <a:lumOff val="35000"/>
                  </a:schemeClr>
                </a:solidFill>
                <a:latin typeface="Impact"/>
              </a:rPr>
              <a:t>CREATING DIGNIFIED WAGES</a:t>
            </a:r>
            <a:endParaRPr lang="en-US" dirty="0">
              <a:solidFill>
                <a:schemeClr val="tx1">
                  <a:lumMod val="65000"/>
                  <a:lumOff val="35000"/>
                </a:schemeClr>
              </a:solidFill>
            </a:endParaRPr>
          </a:p>
        </p:txBody>
      </p:sp>
      <p:pic>
        <p:nvPicPr>
          <p:cNvPr id="23" name="Picture 22">
            <a:extLst>
              <a:ext uri="{FF2B5EF4-FFF2-40B4-BE49-F238E27FC236}">
                <a16:creationId xmlns:a16="http://schemas.microsoft.com/office/drawing/2014/main" id="{0FEB06D3-4AB5-B226-8EFF-B48AAA6562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6460" y="6476023"/>
            <a:ext cx="1945217" cy="281205"/>
          </a:xfrm>
          <a:prstGeom prst="rect">
            <a:avLst/>
          </a:prstGeom>
        </p:spPr>
      </p:pic>
      <p:pic>
        <p:nvPicPr>
          <p:cNvPr id="2" name="Picture 1" descr="A group of women in graduation caps and gowns&#10;&#10;AI-generated content may be incorrect.">
            <a:extLst>
              <a:ext uri="{FF2B5EF4-FFF2-40B4-BE49-F238E27FC236}">
                <a16:creationId xmlns:a16="http://schemas.microsoft.com/office/drawing/2014/main" id="{D3B0C33C-CA7C-D4E4-ED0B-F50EBB6379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55038" y="1828110"/>
            <a:ext cx="3114675" cy="2115240"/>
          </a:xfrm>
          <a:prstGeom prst="rect">
            <a:avLst/>
          </a:prstGeom>
        </p:spPr>
      </p:pic>
      <p:sp>
        <p:nvSpPr>
          <p:cNvPr id="4" name="TextBox 3">
            <a:extLst>
              <a:ext uri="{FF2B5EF4-FFF2-40B4-BE49-F238E27FC236}">
                <a16:creationId xmlns:a16="http://schemas.microsoft.com/office/drawing/2014/main" id="{4AD0B88A-18B1-4551-44FE-603412C90130}"/>
              </a:ext>
            </a:extLst>
          </p:cNvPr>
          <p:cNvSpPr txBox="1"/>
          <p:nvPr/>
        </p:nvSpPr>
        <p:spPr>
          <a:xfrm>
            <a:off x="916964" y="1080723"/>
            <a:ext cx="4817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1.</a:t>
            </a:r>
            <a:endParaRPr lang="en-US" dirty="0"/>
          </a:p>
        </p:txBody>
      </p:sp>
      <p:sp>
        <p:nvSpPr>
          <p:cNvPr id="5" name="TextBox 4">
            <a:extLst>
              <a:ext uri="{FF2B5EF4-FFF2-40B4-BE49-F238E27FC236}">
                <a16:creationId xmlns:a16="http://schemas.microsoft.com/office/drawing/2014/main" id="{597DEF92-DDD7-9CFC-15F8-751125CFDA04}"/>
              </a:ext>
            </a:extLst>
          </p:cNvPr>
          <p:cNvSpPr txBox="1"/>
          <p:nvPr/>
        </p:nvSpPr>
        <p:spPr>
          <a:xfrm>
            <a:off x="4926953" y="1080723"/>
            <a:ext cx="4817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2.</a:t>
            </a:r>
            <a:endParaRPr lang="en-US" dirty="0">
              <a:solidFill>
                <a:schemeClr val="tx1">
                  <a:lumMod val="65000"/>
                  <a:lumOff val="35000"/>
                </a:schemeClr>
              </a:solidFill>
            </a:endParaRPr>
          </a:p>
        </p:txBody>
      </p:sp>
      <p:sp>
        <p:nvSpPr>
          <p:cNvPr id="6" name="TextBox 5">
            <a:extLst>
              <a:ext uri="{FF2B5EF4-FFF2-40B4-BE49-F238E27FC236}">
                <a16:creationId xmlns:a16="http://schemas.microsoft.com/office/drawing/2014/main" id="{2D133578-2C35-2281-DD13-C51D123E24B4}"/>
              </a:ext>
            </a:extLst>
          </p:cNvPr>
          <p:cNvSpPr txBox="1"/>
          <p:nvPr/>
        </p:nvSpPr>
        <p:spPr>
          <a:xfrm>
            <a:off x="8348441" y="1101476"/>
            <a:ext cx="4817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3.</a:t>
            </a:r>
            <a:endParaRPr lang="en-US" dirty="0">
              <a:solidFill>
                <a:schemeClr val="tx1">
                  <a:lumMod val="65000"/>
                  <a:lumOff val="35000"/>
                </a:schemeClr>
              </a:solidFill>
            </a:endParaRPr>
          </a:p>
        </p:txBody>
      </p:sp>
      <p:pic>
        <p:nvPicPr>
          <p:cNvPr id="9" name="Picture 8" descr="Two women standing next to each other&#10;&#10;AI-generated content may be incorrect.">
            <a:extLst>
              <a:ext uri="{FF2B5EF4-FFF2-40B4-BE49-F238E27FC236}">
                <a16:creationId xmlns:a16="http://schemas.microsoft.com/office/drawing/2014/main" id="{9E72F3E5-6B6C-D7B6-3611-6D5475747BB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492563" y="1828110"/>
            <a:ext cx="3455287" cy="4485301"/>
          </a:xfrm>
          <a:prstGeom prst="rect">
            <a:avLst/>
          </a:prstGeom>
        </p:spPr>
      </p:pic>
      <p:pic>
        <p:nvPicPr>
          <p:cNvPr id="7" name="Picture 6" descr="Two men working on a wood table&#10;&#10;AI-generated content may be incorrect.">
            <a:extLst>
              <a:ext uri="{FF2B5EF4-FFF2-40B4-BE49-F238E27FC236}">
                <a16:creationId xmlns:a16="http://schemas.microsoft.com/office/drawing/2014/main" id="{C6612FE8-D044-00FC-2BEA-6CFCE5867462}"/>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555038" y="4183351"/>
            <a:ext cx="3114675" cy="2169829"/>
          </a:xfrm>
          <a:prstGeom prst="rect">
            <a:avLst/>
          </a:prstGeom>
        </p:spPr>
      </p:pic>
      <p:sp>
        <p:nvSpPr>
          <p:cNvPr id="13" name="Title 1">
            <a:extLst>
              <a:ext uri="{FF2B5EF4-FFF2-40B4-BE49-F238E27FC236}">
                <a16:creationId xmlns:a16="http://schemas.microsoft.com/office/drawing/2014/main" id="{3C09FF60-657C-A273-3765-CA77B4C36768}"/>
              </a:ext>
            </a:extLst>
          </p:cNvPr>
          <p:cNvSpPr txBox="1">
            <a:spLocks/>
          </p:cNvSpPr>
          <p:nvPr/>
        </p:nvSpPr>
        <p:spPr>
          <a:xfrm>
            <a:off x="371105" y="-112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solidFill>
                  <a:srgbClr val="52D09D"/>
                </a:solidFill>
                <a:latin typeface="Impact"/>
                <a:cs typeface="Poppins Black"/>
              </a:rPr>
              <a:t>OUR PARTNER CRITERIA</a:t>
            </a:r>
            <a:endParaRPr lang="en-US" dirty="0"/>
          </a:p>
        </p:txBody>
      </p:sp>
      <p:pic>
        <p:nvPicPr>
          <p:cNvPr id="3" name="Picture 2" descr="A group of people in gloves&#10;&#10;AI-generated content may be incorrect.">
            <a:extLst>
              <a:ext uri="{FF2B5EF4-FFF2-40B4-BE49-F238E27FC236}">
                <a16:creationId xmlns:a16="http://schemas.microsoft.com/office/drawing/2014/main" id="{480A8531-7414-BBE3-9249-CD0075477AF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248650" y="1828800"/>
            <a:ext cx="3352800" cy="2152650"/>
          </a:xfrm>
          <a:prstGeom prst="rect">
            <a:avLst/>
          </a:prstGeom>
        </p:spPr>
      </p:pic>
      <p:pic>
        <p:nvPicPr>
          <p:cNvPr id="10" name="Picture 9" descr="A person with a cart of boxes&#10;&#10;AI-generated content may be incorrect.">
            <a:extLst>
              <a:ext uri="{FF2B5EF4-FFF2-40B4-BE49-F238E27FC236}">
                <a16:creationId xmlns:a16="http://schemas.microsoft.com/office/drawing/2014/main" id="{669652F6-235E-4D78-4903-2EA581EC80A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249678" y="4181475"/>
            <a:ext cx="3360268" cy="2152650"/>
          </a:xfrm>
          <a:prstGeom prst="rect">
            <a:avLst/>
          </a:prstGeom>
        </p:spPr>
      </p:pic>
    </p:spTree>
    <p:extLst>
      <p:ext uri="{BB962C8B-B14F-4D97-AF65-F5344CB8AC3E}">
        <p14:creationId xmlns:p14="http://schemas.microsoft.com/office/powerpoint/2010/main" val="660921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A51BA-9BDC-2655-36FF-5B46E5DCAFD7}"/>
              </a:ext>
            </a:extLst>
          </p:cNvPr>
          <p:cNvSpPr>
            <a:spLocks noGrp="1"/>
          </p:cNvSpPr>
          <p:nvPr>
            <p:ph type="title"/>
          </p:nvPr>
        </p:nvSpPr>
        <p:spPr>
          <a:xfrm>
            <a:off x="359735" y="598377"/>
            <a:ext cx="10515600" cy="1325563"/>
          </a:xfrm>
        </p:spPr>
        <p:txBody>
          <a:bodyPr>
            <a:normAutofit/>
          </a:bodyPr>
          <a:lstStyle/>
          <a:p>
            <a:r>
              <a:rPr lang="en-US" sz="4800" dirty="0">
                <a:solidFill>
                  <a:srgbClr val="52D09D"/>
                </a:solidFill>
                <a:latin typeface="Impact" panose="020B0806030902050204" pitchFamily="34" charset="0"/>
                <a:cs typeface="Poppins Black" panose="00000A00000000000000" pitchFamily="2" charset="0"/>
              </a:rPr>
              <a:t>GIVE WHILE GIVING</a:t>
            </a:r>
          </a:p>
        </p:txBody>
      </p:sp>
      <p:pic>
        <p:nvPicPr>
          <p:cNvPr id="5" name="Picture 4" descr="A group of women standing together&#10;&#10;Description automatically generated">
            <a:extLst>
              <a:ext uri="{FF2B5EF4-FFF2-40B4-BE49-F238E27FC236}">
                <a16:creationId xmlns:a16="http://schemas.microsoft.com/office/drawing/2014/main" id="{DA201A29-64E5-806D-CF81-16D1887F49E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9735" y="1726976"/>
            <a:ext cx="5738213" cy="3542253"/>
          </a:xfrm>
          <a:prstGeom prst="rect">
            <a:avLst/>
          </a:prstGeom>
        </p:spPr>
      </p:pic>
      <p:sp>
        <p:nvSpPr>
          <p:cNvPr id="7" name="TextBox 6">
            <a:extLst>
              <a:ext uri="{FF2B5EF4-FFF2-40B4-BE49-F238E27FC236}">
                <a16:creationId xmlns:a16="http://schemas.microsoft.com/office/drawing/2014/main" id="{93B3C29B-0923-A4B1-FEA7-0807A297E213}"/>
              </a:ext>
            </a:extLst>
          </p:cNvPr>
          <p:cNvSpPr txBox="1"/>
          <p:nvPr/>
        </p:nvSpPr>
        <p:spPr>
          <a:xfrm>
            <a:off x="6289473" y="891583"/>
            <a:ext cx="5568738" cy="5355312"/>
          </a:xfrm>
          <a:prstGeom prst="rect">
            <a:avLst/>
          </a:prstGeom>
          <a:noFill/>
        </p:spPr>
        <p:txBody>
          <a:bodyPr wrap="square" lIns="91440" tIns="45720" rIns="91440" bIns="45720" anchor="t">
            <a:spAutoFit/>
          </a:bodyPr>
          <a:lstStyle/>
          <a:p>
            <a:r>
              <a:rPr lang="en-US" b="0" i="0" u="none" strike="noStrike" baseline="0" dirty="0">
                <a:latin typeface="Calibri"/>
                <a:cs typeface="Calibri"/>
              </a:rPr>
              <a:t>Peace by Piece International is a corporate gifts company on a mission to make real social &amp; environmental impact.</a:t>
            </a:r>
            <a:r>
              <a:rPr lang="en-US" dirty="0">
                <a:latin typeface="Calibri"/>
                <a:cs typeface="Calibri"/>
              </a:rPr>
              <a:t> </a:t>
            </a:r>
            <a:endParaRPr lang="en-US" b="0" i="0" u="none" strike="noStrike" baseline="0" dirty="0">
              <a:latin typeface="Calibri" panose="020F0502020204030204" pitchFamily="34" charset="0"/>
              <a:ea typeface="Calibri"/>
              <a:cs typeface="Calibri" panose="020F0502020204030204" pitchFamily="34" charset="0"/>
            </a:endParaRPr>
          </a:p>
          <a:p>
            <a:pPr algn="l"/>
            <a:endParaRPr lang="en-US" b="0" i="0" u="none" strike="noStrike" baseline="0" dirty="0">
              <a:latin typeface="Calibri" panose="020F0502020204030204" pitchFamily="34" charset="0"/>
              <a:ea typeface="Calibri"/>
              <a:cs typeface="Calibri" panose="020F0502020204030204" pitchFamily="34" charset="0"/>
            </a:endParaRPr>
          </a:p>
          <a:p>
            <a:r>
              <a:rPr lang="en-US" dirty="0">
                <a:latin typeface="Calibri"/>
                <a:ea typeface="Calibri"/>
                <a:cs typeface="Calibri"/>
              </a:rPr>
              <a:t>Through partnerships with organizations like yours,</a:t>
            </a:r>
            <a:r>
              <a:rPr lang="en-US" b="1" dirty="0">
                <a:solidFill>
                  <a:srgbClr val="FF0000"/>
                </a:solidFill>
                <a:latin typeface="Calibri"/>
                <a:ea typeface="Calibri"/>
                <a:cs typeface="Calibri"/>
              </a:rPr>
              <a:t> </a:t>
            </a:r>
            <a:r>
              <a:rPr lang="en-US" dirty="0">
                <a:latin typeface="Calibri"/>
                <a:ea typeface="Calibri"/>
                <a:cs typeface="Calibri"/>
              </a:rPr>
              <a:t>we</a:t>
            </a:r>
            <a:r>
              <a:rPr lang="en-US" b="0" i="0" u="none" strike="noStrike" baseline="0" dirty="0">
                <a:latin typeface="Calibri"/>
                <a:ea typeface="Calibri"/>
                <a:cs typeface="Calibri"/>
              </a:rPr>
              <a:t> provide a lifeline to women makers and underserved communities who have faced homelessness, incarceration, sex trafficking, and the challenges of economic </a:t>
            </a:r>
            <a:r>
              <a:rPr lang="en-US" dirty="0">
                <a:latin typeface="Calibri"/>
                <a:ea typeface="Calibri"/>
                <a:cs typeface="Calibri"/>
              </a:rPr>
              <a:t>disenfranchisement. </a:t>
            </a:r>
            <a:r>
              <a:rPr lang="en-US" b="0" i="0" u="none" strike="noStrike" baseline="0" dirty="0">
                <a:latin typeface="Calibri"/>
                <a:ea typeface="Calibri"/>
                <a:cs typeface="Calibri"/>
              </a:rPr>
              <a:t>Our goal is to support them directly on their journey to rebuild their lives, and </a:t>
            </a:r>
            <a:r>
              <a:rPr lang="en-US" dirty="0">
                <a:latin typeface="Calibri"/>
                <a:ea typeface="Calibri"/>
                <a:cs typeface="Calibri"/>
              </a:rPr>
              <a:t>to </a:t>
            </a:r>
            <a:r>
              <a:rPr lang="en-US" b="0" i="0" u="none" strike="noStrike" baseline="0" dirty="0">
                <a:latin typeface="Calibri"/>
                <a:ea typeface="Calibri"/>
                <a:cs typeface="Calibri"/>
              </a:rPr>
              <a:t>foster their creativity, entrepreneurship, and self-worth.</a:t>
            </a:r>
          </a:p>
          <a:p>
            <a:pPr algn="l"/>
            <a:endParaRPr lang="en-US" b="0" i="0" u="none" strike="noStrike" baseline="0" dirty="0">
              <a:latin typeface="Calibri" panose="020F0502020204030204" pitchFamily="34" charset="0"/>
              <a:ea typeface="Calibri"/>
              <a:cs typeface="Calibri" panose="020F0502020204030204" pitchFamily="34" charset="0"/>
            </a:endParaRPr>
          </a:p>
          <a:p>
            <a:r>
              <a:rPr lang="en-US" b="0" i="0" u="none" strike="noStrike" baseline="0" dirty="0">
                <a:latin typeface="Calibri"/>
                <a:cs typeface="Calibri"/>
              </a:rPr>
              <a:t>Every gift you purchase directly </a:t>
            </a:r>
            <a:r>
              <a:rPr lang="en-US" dirty="0">
                <a:latin typeface="Calibri"/>
                <a:cs typeface="Calibri"/>
              </a:rPr>
              <a:t>empowers these</a:t>
            </a:r>
            <a:r>
              <a:rPr lang="en-US" b="0" i="0" u="none" strike="noStrike" baseline="0" dirty="0">
                <a:latin typeface="Calibri"/>
                <a:cs typeface="Calibri"/>
              </a:rPr>
              <a:t> talented makers.</a:t>
            </a:r>
            <a:r>
              <a:rPr lang="en-US" dirty="0">
                <a:latin typeface="Calibri"/>
                <a:cs typeface="Calibri"/>
              </a:rPr>
              <a:t> </a:t>
            </a:r>
            <a:endParaRPr lang="en-US" dirty="0">
              <a:latin typeface="Calibri"/>
              <a:ea typeface="Calibri"/>
              <a:cs typeface="Calibri"/>
            </a:endParaRPr>
          </a:p>
          <a:p>
            <a:endParaRPr lang="en-US" dirty="0">
              <a:latin typeface="Calibri" panose="020F0502020204030204" pitchFamily="34" charset="0"/>
              <a:ea typeface="Calibri"/>
              <a:cs typeface="Calibri" panose="020F0502020204030204" pitchFamily="34" charset="0"/>
            </a:endParaRPr>
          </a:p>
          <a:p>
            <a:pPr algn="l"/>
            <a:r>
              <a:rPr lang="en-US" dirty="0">
                <a:latin typeface="Calibri"/>
                <a:cs typeface="Calibri"/>
              </a:rPr>
              <a:t>J</a:t>
            </a:r>
            <a:r>
              <a:rPr lang="en-US" b="0" i="0" u="none" strike="noStrike" baseline="0" dirty="0">
                <a:latin typeface="Calibri"/>
                <a:cs typeface="Calibri"/>
              </a:rPr>
              <a:t>oin us in spreading hope and dignity, one gift at a time.</a:t>
            </a:r>
            <a:endParaRPr lang="en-US" b="0" i="0" u="none" strike="noStrike" baseline="0" dirty="0">
              <a:latin typeface="Calibri"/>
              <a:ea typeface="Calibri"/>
              <a:cs typeface="Calibri"/>
            </a:endParaRPr>
          </a:p>
          <a:p>
            <a:pPr algn="l"/>
            <a:endParaRPr lang="en-US" dirty="0">
              <a:latin typeface="Calibri" panose="020F0502020204030204" pitchFamily="34" charset="0"/>
              <a:ea typeface="Calibri"/>
              <a:cs typeface="Calibri" panose="020F0502020204030204" pitchFamily="34" charset="0"/>
            </a:endParaRPr>
          </a:p>
          <a:p>
            <a:r>
              <a:rPr lang="en-US" i="1" dirty="0">
                <a:latin typeface="Calibri"/>
                <a:cs typeface="Calibri"/>
              </a:rPr>
              <a:t>Lauri Jones Pastrone, Founder &amp; CEO           </a:t>
            </a:r>
            <a:r>
              <a:rPr lang="en-US" i="1" dirty="0">
                <a:solidFill>
                  <a:schemeClr val="bg2">
                    <a:lumMod val="25000"/>
                  </a:schemeClr>
                </a:solidFill>
                <a:latin typeface="Calibri"/>
                <a:cs typeface="Calibri"/>
              </a:rPr>
              <a:t>     </a:t>
            </a:r>
            <a:endParaRPr lang="en-US" i="1" dirty="0">
              <a:solidFill>
                <a:schemeClr val="bg2">
                  <a:lumMod val="25000"/>
                </a:schemeClr>
              </a:solidFill>
              <a:latin typeface="Calibri" panose="020F0502020204030204" pitchFamily="34" charset="0"/>
              <a:ea typeface="Calibri"/>
              <a:cs typeface="Calibri" panose="020F0502020204030204" pitchFamily="34" charset="0"/>
            </a:endParaRPr>
          </a:p>
          <a:p>
            <a:pPr algn="l"/>
            <a:r>
              <a:rPr lang="en-US" i="1" dirty="0">
                <a:solidFill>
                  <a:srgbClr val="52D09D"/>
                </a:solidFill>
                <a:latin typeface="Calibri"/>
                <a:ea typeface="Calibri"/>
                <a:cs typeface="Calibri"/>
              </a:rPr>
              <a:t>Peace by Piece International </a:t>
            </a:r>
          </a:p>
        </p:txBody>
      </p:sp>
      <p:pic>
        <p:nvPicPr>
          <p:cNvPr id="4" name="Picture 3">
            <a:extLst>
              <a:ext uri="{FF2B5EF4-FFF2-40B4-BE49-F238E27FC236}">
                <a16:creationId xmlns:a16="http://schemas.microsoft.com/office/drawing/2014/main" id="{D7E9A8A6-E2E2-9163-41F7-7CC20E57BA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
        <p:nvSpPr>
          <p:cNvPr id="6" name="TextBox 5">
            <a:extLst>
              <a:ext uri="{FF2B5EF4-FFF2-40B4-BE49-F238E27FC236}">
                <a16:creationId xmlns:a16="http://schemas.microsoft.com/office/drawing/2014/main" id="{5D71D7F9-3AA5-88C5-BA11-16A7C266358B}"/>
              </a:ext>
            </a:extLst>
          </p:cNvPr>
          <p:cNvSpPr txBox="1"/>
          <p:nvPr/>
        </p:nvSpPr>
        <p:spPr>
          <a:xfrm>
            <a:off x="363224" y="237900"/>
            <a:ext cx="33642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0" dirty="0">
                <a:latin typeface="STXingkai"/>
                <a:ea typeface="STXingkai"/>
              </a:rPr>
              <a:t>You can</a:t>
            </a:r>
          </a:p>
        </p:txBody>
      </p:sp>
    </p:spTree>
    <p:extLst>
      <p:ext uri="{BB962C8B-B14F-4D97-AF65-F5344CB8AC3E}">
        <p14:creationId xmlns:p14="http://schemas.microsoft.com/office/powerpoint/2010/main" val="2289308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ooden oval shaped bowl with a football engraved on it&#10;&#10;Description automatically generated">
            <a:extLst>
              <a:ext uri="{FF2B5EF4-FFF2-40B4-BE49-F238E27FC236}">
                <a16:creationId xmlns:a16="http://schemas.microsoft.com/office/drawing/2014/main" id="{5936707E-361E-3765-8EE6-4266F17AB6F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6638" y="1580279"/>
            <a:ext cx="4571999" cy="4571999"/>
          </a:xfrm>
          <a:prstGeom prst="rect">
            <a:avLst/>
          </a:prstGeom>
        </p:spPr>
      </p:pic>
      <p:sp>
        <p:nvSpPr>
          <p:cNvPr id="2" name="Title 1">
            <a:extLst>
              <a:ext uri="{FF2B5EF4-FFF2-40B4-BE49-F238E27FC236}">
                <a16:creationId xmlns:a16="http://schemas.microsoft.com/office/drawing/2014/main" id="{3CDA51BA-9BDC-2655-36FF-5B46E5DCAFD7}"/>
              </a:ext>
            </a:extLst>
          </p:cNvPr>
          <p:cNvSpPr>
            <a:spLocks noGrp="1"/>
          </p:cNvSpPr>
          <p:nvPr>
            <p:ph type="title"/>
          </p:nvPr>
        </p:nvSpPr>
        <p:spPr>
          <a:xfrm>
            <a:off x="359735" y="226902"/>
            <a:ext cx="10515600" cy="1325563"/>
          </a:xfrm>
        </p:spPr>
        <p:txBody>
          <a:bodyPr>
            <a:normAutofit/>
          </a:bodyPr>
          <a:lstStyle/>
          <a:p>
            <a:r>
              <a:rPr lang="en-US" sz="4800" dirty="0">
                <a:solidFill>
                  <a:srgbClr val="52D09D"/>
                </a:solidFill>
                <a:latin typeface="Impact"/>
                <a:cs typeface="Poppins Black"/>
              </a:rPr>
              <a:t>SOME IDEAS FOR YOU TO CONSIDER</a:t>
            </a:r>
          </a:p>
        </p:txBody>
      </p:sp>
      <p:sp>
        <p:nvSpPr>
          <p:cNvPr id="7" name="TextBox 6">
            <a:extLst>
              <a:ext uri="{FF2B5EF4-FFF2-40B4-BE49-F238E27FC236}">
                <a16:creationId xmlns:a16="http://schemas.microsoft.com/office/drawing/2014/main" id="{93B3C29B-0923-A4B1-FEA7-0807A297E213}"/>
              </a:ext>
            </a:extLst>
          </p:cNvPr>
          <p:cNvSpPr txBox="1"/>
          <p:nvPr/>
        </p:nvSpPr>
        <p:spPr>
          <a:xfrm>
            <a:off x="7291788" y="1278145"/>
            <a:ext cx="4900212" cy="5816977"/>
          </a:xfrm>
          <a:prstGeom prst="rect">
            <a:avLst/>
          </a:prstGeom>
          <a:noFill/>
        </p:spPr>
        <p:txBody>
          <a:bodyPr wrap="square" lIns="91440" tIns="45720" rIns="91440" bIns="45720" anchor="t">
            <a:spAutoFit/>
          </a:bodyPr>
          <a:lstStyle/>
          <a:p>
            <a:r>
              <a:rPr lang="en-US" sz="2000" b="0" i="0" u="none" strike="noStrike" baseline="0" dirty="0">
                <a:latin typeface="Calibri"/>
                <a:cs typeface="Calibri"/>
              </a:rPr>
              <a:t>On the slides that follow, we present ideas for your consideration. Our hope is that you will see the talent and capabilities of our makers.</a:t>
            </a:r>
            <a:r>
              <a:rPr lang="en-US" sz="2000" dirty="0">
                <a:latin typeface="Calibri"/>
                <a:cs typeface="Calibri"/>
              </a:rPr>
              <a:t> </a:t>
            </a:r>
            <a:endParaRPr lang="en-US" sz="2000" b="0" i="0" u="none" strike="noStrike" baseline="0" dirty="0">
              <a:latin typeface="Calibri" panose="020F0502020204030204" pitchFamily="34" charset="0"/>
              <a:cs typeface="Calibri" panose="020F0502020204030204" pitchFamily="34" charset="0"/>
            </a:endParaRPr>
          </a:p>
          <a:p>
            <a:pPr algn="l"/>
            <a:endParaRPr lang="en-US" sz="2000" b="0" i="0" u="none" strike="noStrike" baseline="0" dirty="0">
              <a:latin typeface="Calibri" panose="020F0502020204030204" pitchFamily="34" charset="0"/>
              <a:cs typeface="Calibri" panose="020F0502020204030204" pitchFamily="34" charset="0"/>
            </a:endParaRPr>
          </a:p>
          <a:p>
            <a:r>
              <a:rPr lang="en-US" sz="2000" dirty="0">
                <a:latin typeface="Calibri"/>
                <a:cs typeface="Calibri"/>
              </a:rPr>
              <a:t>After each group of gift slides, you will see a slide that shares a bit about the maker community. </a:t>
            </a:r>
            <a:endParaRPr lang="en-US" sz="2000" dirty="0">
              <a:latin typeface="Calibri" panose="020F0502020204030204" pitchFamily="34" charset="0"/>
              <a:cs typeface="Calibri" panose="020F0502020204030204" pitchFamily="34" charset="0"/>
            </a:endParaRPr>
          </a:p>
          <a:p>
            <a:pPr algn="l"/>
            <a:endParaRPr lang="en-US" sz="2000" dirty="0">
              <a:latin typeface="Calibri" panose="020F0502020204030204" pitchFamily="34" charset="0"/>
              <a:cs typeface="Calibri" panose="020F0502020204030204" pitchFamily="34" charset="0"/>
            </a:endParaRPr>
          </a:p>
          <a:p>
            <a:r>
              <a:rPr lang="en-US" sz="2000" dirty="0">
                <a:latin typeface="Calibri"/>
                <a:cs typeface="Calibri"/>
              </a:rPr>
              <a:t>In the photos to the left, you can see a “football” tray and coasters that we recently created for the 49er’s Foundation. This project provided over 600 hours of dignified work in Northern Guatemala. </a:t>
            </a:r>
            <a:endParaRPr lang="en-US" sz="2000" dirty="0">
              <a:latin typeface="Calibri" panose="020F0502020204030204" pitchFamily="34" charset="0"/>
              <a:cs typeface="Calibri" panose="020F0502020204030204" pitchFamily="34" charset="0"/>
            </a:endParaRPr>
          </a:p>
          <a:p>
            <a:pPr algn="l"/>
            <a:endParaRPr lang="en-US" sz="2000" b="0" i="0" u="none" strike="noStrike" baseline="0" dirty="0">
              <a:latin typeface="Calibri" panose="020F0502020204030204" pitchFamily="34" charset="0"/>
              <a:cs typeface="Calibri" panose="020F0502020204030204" pitchFamily="34" charset="0"/>
            </a:endParaRPr>
          </a:p>
          <a:p>
            <a:r>
              <a:rPr lang="en-US" sz="2000" dirty="0">
                <a:latin typeface="Calibri"/>
                <a:cs typeface="Calibri"/>
              </a:rPr>
              <a:t>We hope you will c</a:t>
            </a:r>
            <a:r>
              <a:rPr lang="en-US" sz="2000" b="0" i="0" u="none" strike="noStrike" baseline="0" dirty="0">
                <a:latin typeface="Calibri"/>
                <a:cs typeface="Calibri"/>
              </a:rPr>
              <a:t>ome to us with your ideas. They can truly change lives!</a:t>
            </a:r>
            <a:r>
              <a:rPr lang="en-US" sz="2000" dirty="0">
                <a:latin typeface="Calibri"/>
                <a:cs typeface="Calibri"/>
              </a:rPr>
              <a:t> </a:t>
            </a:r>
            <a:endParaRPr lang="en-US" sz="2000" b="0" i="0" u="none" strike="noStrike" baseline="0" dirty="0">
              <a:latin typeface="Calibri" panose="020F0502020204030204" pitchFamily="34" charset="0"/>
              <a:cs typeface="Calibri" panose="020F0502020204030204" pitchFamily="34" charset="0"/>
            </a:endParaRPr>
          </a:p>
          <a:p>
            <a:pPr algn="l"/>
            <a:endParaRPr lang="en-US" sz="1600" dirty="0">
              <a:latin typeface="Poppins" panose="00000500000000000000" pitchFamily="2" charset="0"/>
              <a:cs typeface="Poppins" panose="00000500000000000000" pitchFamily="2" charset="0"/>
            </a:endParaRPr>
          </a:p>
          <a:p>
            <a:pPr algn="l"/>
            <a:endParaRPr lang="en-US" sz="1600" b="0" i="0" u="none" strike="noStrike" baseline="0" dirty="0">
              <a:solidFill>
                <a:schemeClr val="bg2">
                  <a:lumMod val="25000"/>
                </a:schemeClr>
              </a:solidFill>
              <a:latin typeface="Poppins" panose="00000500000000000000" pitchFamily="2" charset="0"/>
              <a:cs typeface="Poppins" panose="00000500000000000000" pitchFamily="2" charset="0"/>
            </a:endParaRPr>
          </a:p>
        </p:txBody>
      </p:sp>
      <p:pic>
        <p:nvPicPr>
          <p:cNvPr id="9" name="Picture 8" descr="A person holding a pump&#10;&#10;Description automatically generated">
            <a:extLst>
              <a:ext uri="{FF2B5EF4-FFF2-40B4-BE49-F238E27FC236}">
                <a16:creationId xmlns:a16="http://schemas.microsoft.com/office/drawing/2014/main" id="{0AF89083-1B71-6FCB-F904-470DE069904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28715" y="1560739"/>
            <a:ext cx="3429000" cy="4572000"/>
          </a:xfrm>
          <a:prstGeom prst="rect">
            <a:avLst/>
          </a:prstGeom>
        </p:spPr>
      </p:pic>
      <p:pic>
        <p:nvPicPr>
          <p:cNvPr id="10" name="Picture 9">
            <a:extLst>
              <a:ext uri="{FF2B5EF4-FFF2-40B4-BE49-F238E27FC236}">
                <a16:creationId xmlns:a16="http://schemas.microsoft.com/office/drawing/2014/main" id="{7D7FE96B-1357-19FC-F629-91947DB8412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Tree>
    <p:extLst>
      <p:ext uri="{BB962C8B-B14F-4D97-AF65-F5344CB8AC3E}">
        <p14:creationId xmlns:p14="http://schemas.microsoft.com/office/powerpoint/2010/main" val="68101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252A1-1F42-F728-9D8D-D13FBF81D2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EBECE1-40A5-FECF-0D5F-8D08EFC4A43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815598" y="5383106"/>
            <a:ext cx="893045" cy="893045"/>
          </a:xfrm>
          <a:prstGeom prst="rect">
            <a:avLst/>
          </a:prstGeom>
        </p:spPr>
      </p:pic>
      <p:pic>
        <p:nvPicPr>
          <p:cNvPr id="6" name="Picture 5" descr="Logo&#10;&#10;Description automatically generated">
            <a:extLst>
              <a:ext uri="{FF2B5EF4-FFF2-40B4-BE49-F238E27FC236}">
                <a16:creationId xmlns:a16="http://schemas.microsoft.com/office/drawing/2014/main" id="{F2C08325-5FAB-0199-58AF-AEC006EED0F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77760" y="2430976"/>
            <a:ext cx="1126368" cy="742109"/>
          </a:xfrm>
          <a:prstGeom prst="rect">
            <a:avLst/>
          </a:prstGeom>
        </p:spPr>
      </p:pic>
      <p:pic>
        <p:nvPicPr>
          <p:cNvPr id="8" name="Picture 7" descr="Text, shape&#10;&#10;Description automatically generated">
            <a:extLst>
              <a:ext uri="{FF2B5EF4-FFF2-40B4-BE49-F238E27FC236}">
                <a16:creationId xmlns:a16="http://schemas.microsoft.com/office/drawing/2014/main" id="{CB20DDAA-CCCB-16E4-2697-C611B1E287C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074432" y="2882536"/>
            <a:ext cx="742109" cy="568484"/>
          </a:xfrm>
          <a:prstGeom prst="rect">
            <a:avLst/>
          </a:prstGeom>
        </p:spPr>
      </p:pic>
      <p:pic>
        <p:nvPicPr>
          <p:cNvPr id="10" name="Picture 9">
            <a:extLst>
              <a:ext uri="{FF2B5EF4-FFF2-40B4-BE49-F238E27FC236}">
                <a16:creationId xmlns:a16="http://schemas.microsoft.com/office/drawing/2014/main" id="{2C3F9835-539D-3ECE-B3C2-E6EA3F59973B}"/>
              </a:ext>
            </a:extLst>
          </p:cNvPr>
          <p:cNvPicPr>
            <a:picLocks noChangeAspect="1"/>
          </p:cNvPicPr>
          <p:nvPr/>
        </p:nvPicPr>
        <p:blipFill rotWithShape="1">
          <a:blip r:embed="rId5"/>
          <a:srcRect l="15877" t="20045" r="13296" b="19270"/>
          <a:stretch/>
        </p:blipFill>
        <p:spPr>
          <a:xfrm>
            <a:off x="10889146" y="3503299"/>
            <a:ext cx="1291611" cy="1519601"/>
          </a:xfrm>
          <a:prstGeom prst="rect">
            <a:avLst/>
          </a:prstGeom>
        </p:spPr>
      </p:pic>
      <p:pic>
        <p:nvPicPr>
          <p:cNvPr id="11" name="Picture 10" descr="Logo, company name&#10;&#10;Description automatically generated with medium confidence">
            <a:extLst>
              <a:ext uri="{FF2B5EF4-FFF2-40B4-BE49-F238E27FC236}">
                <a16:creationId xmlns:a16="http://schemas.microsoft.com/office/drawing/2014/main" id="{F5EBC137-9BCE-EB98-D59B-CB22B7BA345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189567" y="4539745"/>
            <a:ext cx="1066174" cy="969100"/>
          </a:xfrm>
          <a:prstGeom prst="rect">
            <a:avLst/>
          </a:prstGeom>
        </p:spPr>
      </p:pic>
      <p:pic>
        <p:nvPicPr>
          <p:cNvPr id="12" name="Picture 11" descr="Text&#10;&#10;Description automatically generated">
            <a:extLst>
              <a:ext uri="{FF2B5EF4-FFF2-40B4-BE49-F238E27FC236}">
                <a16:creationId xmlns:a16="http://schemas.microsoft.com/office/drawing/2014/main" id="{C76FFDE4-9CBB-B816-B14B-F806872804F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590144" y="1333685"/>
            <a:ext cx="1844830" cy="331655"/>
          </a:xfrm>
          <a:prstGeom prst="rect">
            <a:avLst/>
          </a:prstGeom>
        </p:spPr>
      </p:pic>
      <p:pic>
        <p:nvPicPr>
          <p:cNvPr id="13" name="Graphic 12">
            <a:extLst>
              <a:ext uri="{FF2B5EF4-FFF2-40B4-BE49-F238E27FC236}">
                <a16:creationId xmlns:a16="http://schemas.microsoft.com/office/drawing/2014/main" id="{2C824D34-C71C-9912-E16A-29A99ADDC26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52735" y="1900396"/>
            <a:ext cx="1366340" cy="540843"/>
          </a:xfrm>
          <a:prstGeom prst="rect">
            <a:avLst/>
          </a:prstGeom>
        </p:spPr>
      </p:pic>
      <p:sp>
        <p:nvSpPr>
          <p:cNvPr id="4" name="TextBox 3">
            <a:extLst>
              <a:ext uri="{FF2B5EF4-FFF2-40B4-BE49-F238E27FC236}">
                <a16:creationId xmlns:a16="http://schemas.microsoft.com/office/drawing/2014/main" id="{49F3DFD1-408D-70A2-009E-FC1CB59FDBB9}"/>
              </a:ext>
            </a:extLst>
          </p:cNvPr>
          <p:cNvSpPr txBox="1"/>
          <p:nvPr/>
        </p:nvSpPr>
        <p:spPr>
          <a:xfrm>
            <a:off x="276224" y="1513486"/>
            <a:ext cx="5932433" cy="4478149"/>
          </a:xfrm>
          <a:prstGeom prst="rect">
            <a:avLst/>
          </a:prstGeom>
          <a:noFill/>
        </p:spPr>
        <p:txBody>
          <a:bodyPr wrap="square" lIns="91440" tIns="45720" rIns="91440" bIns="45720" anchor="t">
            <a:spAutoFit/>
          </a:bodyPr>
          <a:lstStyle/>
          <a:p>
            <a:pPr algn="l" fontAlgn="base"/>
            <a:r>
              <a:rPr lang="en-US" sz="1400" i="1" dirty="0">
                <a:solidFill>
                  <a:schemeClr val="tx1">
                    <a:lumMod val="95000"/>
                    <a:lumOff val="5000"/>
                  </a:schemeClr>
                </a:solidFill>
                <a:effectLst/>
                <a:latin typeface="Poppins" panose="00000500000000000000" pitchFamily="2" charset="0"/>
                <a:cs typeface="Poppins" panose="00000500000000000000" pitchFamily="2" charset="0"/>
              </a:rPr>
              <a:t>Peace by Piece international products are beautifully crafted and sourced from artisans in disenfranchised areas around the world. Purchasing one of these products will both make the recipient happy and will help hard working people</a:t>
            </a:r>
            <a:r>
              <a:rPr lang="en-US" sz="1400" i="0" dirty="0">
                <a:solidFill>
                  <a:schemeClr val="tx1">
                    <a:lumMod val="95000"/>
                    <a:lumOff val="5000"/>
                  </a:schemeClr>
                </a:solidFill>
                <a:effectLst/>
                <a:latin typeface="Poppins" panose="00000500000000000000" pitchFamily="2" charset="0"/>
                <a:cs typeface="Poppins" panose="00000500000000000000" pitchFamily="2" charset="0"/>
              </a:rPr>
              <a:t>. </a:t>
            </a:r>
          </a:p>
          <a:p>
            <a:pPr algn="l" fontAlgn="base"/>
            <a:endParaRPr lang="en-US" sz="900" i="0" dirty="0">
              <a:solidFill>
                <a:schemeClr val="tx1">
                  <a:lumMod val="95000"/>
                  <a:lumOff val="5000"/>
                </a:schemeClr>
              </a:solidFill>
              <a:effectLst/>
              <a:latin typeface="Poppins" panose="00000500000000000000" pitchFamily="2" charset="0"/>
              <a:cs typeface="Poppins" panose="00000500000000000000" pitchFamily="2" charset="0"/>
            </a:endParaRPr>
          </a:p>
          <a:p>
            <a:pPr algn="l" fontAlgn="base"/>
            <a:r>
              <a:rPr lang="en-US" sz="1400" i="0" dirty="0">
                <a:solidFill>
                  <a:schemeClr val="tx1">
                    <a:lumMod val="95000"/>
                    <a:lumOff val="5000"/>
                  </a:schemeClr>
                </a:solidFill>
                <a:effectLst/>
                <a:latin typeface="Poppins" panose="00000500000000000000" pitchFamily="2" charset="0"/>
                <a:cs typeface="Poppins" panose="00000500000000000000" pitchFamily="2" charset="0"/>
              </a:rPr>
              <a:t>- C. Callaud; </a:t>
            </a:r>
            <a:r>
              <a:rPr lang="en-US" sz="1400" dirty="0">
                <a:solidFill>
                  <a:schemeClr val="tx1">
                    <a:lumMod val="95000"/>
                    <a:lumOff val="5000"/>
                  </a:schemeClr>
                </a:solidFill>
                <a:latin typeface="Poppins" panose="00000500000000000000" pitchFamily="2" charset="0"/>
                <a:cs typeface="Poppins" panose="00000500000000000000" pitchFamily="2" charset="0"/>
              </a:rPr>
              <a:t>Senior Director, </a:t>
            </a:r>
            <a:r>
              <a:rPr lang="en-US" sz="1400" b="1" i="1" dirty="0">
                <a:solidFill>
                  <a:schemeClr val="tx1">
                    <a:lumMod val="95000"/>
                    <a:lumOff val="5000"/>
                  </a:schemeClr>
                </a:solidFill>
                <a:latin typeface="Poppins" panose="00000500000000000000" pitchFamily="2" charset="0"/>
                <a:cs typeface="Poppins" panose="00000500000000000000" pitchFamily="2" charset="0"/>
              </a:rPr>
              <a:t>Apple Computer</a:t>
            </a:r>
            <a:endParaRPr lang="en-US" sz="1400" b="1" i="1" dirty="0">
              <a:solidFill>
                <a:schemeClr val="tx1">
                  <a:lumMod val="95000"/>
                  <a:lumOff val="5000"/>
                </a:schemeClr>
              </a:solidFill>
              <a:effectLst/>
              <a:latin typeface="Poppins" panose="00000500000000000000" pitchFamily="2" charset="0"/>
              <a:cs typeface="Poppins" panose="00000500000000000000" pitchFamily="2" charset="0"/>
            </a:endParaRPr>
          </a:p>
          <a:p>
            <a:pPr algn="l" fontAlgn="base"/>
            <a:endParaRPr lang="en-US" sz="2400" i="0" dirty="0">
              <a:solidFill>
                <a:schemeClr val="tx1">
                  <a:lumMod val="95000"/>
                  <a:lumOff val="5000"/>
                </a:schemeClr>
              </a:solidFill>
              <a:effectLst/>
              <a:latin typeface="Poppins" panose="00000500000000000000" pitchFamily="2" charset="0"/>
              <a:cs typeface="Poppins" panose="00000500000000000000" pitchFamily="2" charset="0"/>
            </a:endParaRPr>
          </a:p>
          <a:p>
            <a:pPr fontAlgn="base"/>
            <a:r>
              <a:rPr lang="en-US" sz="1400" i="1" dirty="0">
                <a:solidFill>
                  <a:schemeClr val="tx1">
                    <a:lumMod val="95000"/>
                    <a:lumOff val="5000"/>
                  </a:schemeClr>
                </a:solidFill>
                <a:latin typeface="Poppins" panose="00000500000000000000" pitchFamily="2" charset="0"/>
                <a:cs typeface="Poppins" panose="00000500000000000000" pitchFamily="2" charset="0"/>
              </a:rPr>
              <a:t>The gifts are high quality, unique, and purposeful. It's great to know that we are helping communities and giving back to people that need and appreciate the work.</a:t>
            </a:r>
          </a:p>
          <a:p>
            <a:pPr fontAlgn="base"/>
            <a:endParaRPr lang="en-US" sz="900" i="1" dirty="0">
              <a:solidFill>
                <a:schemeClr val="tx1">
                  <a:lumMod val="95000"/>
                  <a:lumOff val="5000"/>
                </a:schemeClr>
              </a:solidFill>
              <a:latin typeface="Poppins" panose="00000500000000000000" pitchFamily="2" charset="0"/>
              <a:cs typeface="Poppins" panose="00000500000000000000" pitchFamily="2" charset="0"/>
            </a:endParaRPr>
          </a:p>
          <a:p>
            <a:pPr fontAlgn="base"/>
            <a:r>
              <a:rPr lang="en-US" sz="1400" dirty="0">
                <a:solidFill>
                  <a:schemeClr val="tx1">
                    <a:lumMod val="95000"/>
                    <a:lumOff val="5000"/>
                  </a:schemeClr>
                </a:solidFill>
                <a:latin typeface="Poppins" panose="00000500000000000000" pitchFamily="2" charset="0"/>
                <a:cs typeface="Poppins" panose="00000500000000000000" pitchFamily="2" charset="0"/>
              </a:rPr>
              <a:t>- B. Faxon; EA &amp; Business Partner to CEO, </a:t>
            </a:r>
            <a:r>
              <a:rPr lang="en-US" sz="1400" b="1" dirty="0">
                <a:solidFill>
                  <a:schemeClr val="tx1">
                    <a:lumMod val="95000"/>
                    <a:lumOff val="5000"/>
                  </a:schemeClr>
                </a:solidFill>
                <a:latin typeface="Poppins" panose="00000500000000000000" pitchFamily="2" charset="0"/>
                <a:cs typeface="Poppins" panose="00000500000000000000" pitchFamily="2" charset="0"/>
              </a:rPr>
              <a:t>Lattice Semiconductor</a:t>
            </a:r>
          </a:p>
          <a:p>
            <a:pPr algn="l" fontAlgn="base"/>
            <a:endParaRPr lang="en-US" sz="2400" i="0" dirty="0">
              <a:solidFill>
                <a:schemeClr val="tx1">
                  <a:lumMod val="95000"/>
                  <a:lumOff val="5000"/>
                </a:schemeClr>
              </a:solidFill>
              <a:effectLst/>
              <a:latin typeface="Poppins" panose="00000500000000000000" pitchFamily="2" charset="0"/>
              <a:cs typeface="Poppins" panose="00000500000000000000" pitchFamily="2" charset="0"/>
            </a:endParaRPr>
          </a:p>
          <a:p>
            <a:r>
              <a:rPr lang="en-US" sz="1400" i="1" dirty="0">
                <a:solidFill>
                  <a:schemeClr val="tx1">
                    <a:lumMod val="95000"/>
                    <a:lumOff val="5000"/>
                  </a:schemeClr>
                </a:solidFill>
                <a:latin typeface="Poppins"/>
                <a:ea typeface="+mn-lt"/>
                <a:cs typeface="+mn-lt"/>
              </a:rPr>
              <a:t>Everybody loves to get a gift but everybody loves it a little bit more and it hits a little bit differently when you know that the gift was made with passion, purpose</a:t>
            </a:r>
            <a:r>
              <a:rPr lang="en-US" sz="1400" i="1" dirty="0">
                <a:solidFill>
                  <a:schemeClr val="tx1">
                    <a:lumMod val="95000"/>
                    <a:lumOff val="5000"/>
                  </a:schemeClr>
                </a:solidFill>
                <a:effectLst/>
                <a:latin typeface="Poppins"/>
                <a:ea typeface="+mn-lt"/>
                <a:cs typeface="+mn-lt"/>
              </a:rPr>
              <a:t>, </a:t>
            </a:r>
            <a:r>
              <a:rPr lang="en-US" sz="1400" i="1" dirty="0">
                <a:solidFill>
                  <a:schemeClr val="tx1">
                    <a:lumMod val="95000"/>
                    <a:lumOff val="5000"/>
                  </a:schemeClr>
                </a:solidFill>
                <a:latin typeface="Poppins"/>
                <a:ea typeface="+mn-lt"/>
                <a:cs typeface="+mn-lt"/>
              </a:rPr>
              <a:t>and intention</a:t>
            </a:r>
            <a:r>
              <a:rPr lang="en-US" sz="1400" i="1" dirty="0">
                <a:solidFill>
                  <a:schemeClr val="tx1">
                    <a:lumMod val="95000"/>
                    <a:lumOff val="5000"/>
                  </a:schemeClr>
                </a:solidFill>
                <a:effectLst/>
                <a:latin typeface="Poppins"/>
                <a:ea typeface="+mn-lt"/>
                <a:cs typeface="+mn-lt"/>
              </a:rPr>
              <a:t>. </a:t>
            </a:r>
            <a:r>
              <a:rPr lang="en-US" sz="1400" i="1" dirty="0">
                <a:solidFill>
                  <a:schemeClr val="tx1">
                    <a:lumMod val="95000"/>
                    <a:lumOff val="5000"/>
                  </a:schemeClr>
                </a:solidFill>
                <a:latin typeface="Poppins"/>
                <a:ea typeface="+mn-lt"/>
                <a:cs typeface="+mn-lt"/>
              </a:rPr>
              <a:t>What we created with </a:t>
            </a:r>
            <a:r>
              <a:rPr lang="en-US" sz="1400" i="1" dirty="0" err="1">
                <a:solidFill>
                  <a:schemeClr val="tx1">
                    <a:lumMod val="95000"/>
                    <a:lumOff val="5000"/>
                  </a:schemeClr>
                </a:solidFill>
                <a:latin typeface="Poppins"/>
                <a:ea typeface="+mn-lt"/>
                <a:cs typeface="+mn-lt"/>
              </a:rPr>
              <a:t>Peace</a:t>
            </a:r>
            <a:r>
              <a:rPr lang="en-US" sz="1400" i="1" dirty="0">
                <a:solidFill>
                  <a:schemeClr val="tx1">
                    <a:lumMod val="95000"/>
                    <a:lumOff val="5000"/>
                  </a:schemeClr>
                </a:solidFill>
                <a:latin typeface="Poppins"/>
                <a:ea typeface="+mn-lt"/>
                <a:cs typeface="+mn-lt"/>
              </a:rPr>
              <a:t> by Piece is really a 1-of-a-1 item and I think </a:t>
            </a:r>
            <a:r>
              <a:rPr lang="en-US" sz="1400" i="1" dirty="0">
                <a:solidFill>
                  <a:schemeClr val="tx1">
                    <a:lumMod val="95000"/>
                    <a:lumOff val="5000"/>
                  </a:schemeClr>
                </a:solidFill>
                <a:effectLst/>
                <a:latin typeface="Poppins"/>
                <a:ea typeface="+mn-lt"/>
                <a:cs typeface="+mn-lt"/>
              </a:rPr>
              <a:t>our </a:t>
            </a:r>
            <a:r>
              <a:rPr lang="en-US" sz="1400" i="1" dirty="0">
                <a:solidFill>
                  <a:schemeClr val="tx1">
                    <a:lumMod val="95000"/>
                    <a:lumOff val="5000"/>
                  </a:schemeClr>
                </a:solidFill>
                <a:latin typeface="Poppins"/>
                <a:ea typeface="+mn-lt"/>
                <a:cs typeface="+mn-lt"/>
              </a:rPr>
              <a:t>guests felt that. </a:t>
            </a:r>
            <a:endParaRPr lang="en-US" sz="1400" i="1" dirty="0">
              <a:solidFill>
                <a:schemeClr val="tx1">
                  <a:lumMod val="95000"/>
                  <a:lumOff val="5000"/>
                </a:schemeClr>
              </a:solidFill>
              <a:effectLst/>
              <a:latin typeface="Poppins" panose="00000500000000000000" pitchFamily="2" charset="0"/>
              <a:cs typeface="Poppins" panose="00000500000000000000" pitchFamily="2" charset="0"/>
            </a:endParaRPr>
          </a:p>
          <a:p>
            <a:pPr fontAlgn="base"/>
            <a:endParaRPr lang="en-US" sz="900" i="0" dirty="0">
              <a:solidFill>
                <a:schemeClr val="tx1">
                  <a:lumMod val="95000"/>
                  <a:lumOff val="5000"/>
                </a:schemeClr>
              </a:solidFill>
              <a:effectLst/>
              <a:latin typeface="Poppins" panose="00000500000000000000" pitchFamily="2" charset="0"/>
              <a:cs typeface="Poppins" panose="00000500000000000000" pitchFamily="2" charset="0"/>
            </a:endParaRPr>
          </a:p>
          <a:p>
            <a:pPr fontAlgn="base"/>
            <a:r>
              <a:rPr lang="en-US" sz="1400" dirty="0">
                <a:solidFill>
                  <a:schemeClr val="tx1">
                    <a:lumMod val="95000"/>
                    <a:lumOff val="5000"/>
                  </a:schemeClr>
                </a:solidFill>
                <a:effectLst/>
                <a:latin typeface="Poppins"/>
                <a:cs typeface="Poppins"/>
              </a:rPr>
              <a:t>- </a:t>
            </a:r>
            <a:r>
              <a:rPr lang="en-US" sz="1400" dirty="0">
                <a:solidFill>
                  <a:schemeClr val="tx1">
                    <a:lumMod val="95000"/>
                    <a:lumOff val="5000"/>
                  </a:schemeClr>
                </a:solidFill>
                <a:latin typeface="Poppins"/>
                <a:cs typeface="Poppins"/>
              </a:rPr>
              <a:t>J. Prettyman</a:t>
            </a:r>
            <a:r>
              <a:rPr lang="en-US" sz="1400" dirty="0">
                <a:solidFill>
                  <a:schemeClr val="tx1">
                    <a:lumMod val="95000"/>
                    <a:lumOff val="5000"/>
                  </a:schemeClr>
                </a:solidFill>
                <a:effectLst/>
                <a:latin typeface="Poppins"/>
                <a:cs typeface="Poppins"/>
              </a:rPr>
              <a:t>; Executive Director, </a:t>
            </a:r>
            <a:r>
              <a:rPr lang="en-US" sz="1400" b="1" dirty="0">
                <a:solidFill>
                  <a:schemeClr val="tx1">
                    <a:lumMod val="95000"/>
                    <a:lumOff val="5000"/>
                  </a:schemeClr>
                </a:solidFill>
                <a:latin typeface="Poppins"/>
                <a:cs typeface="Poppins"/>
              </a:rPr>
              <a:t>49ers </a:t>
            </a:r>
            <a:r>
              <a:rPr lang="en-US" sz="1400" b="1" dirty="0">
                <a:solidFill>
                  <a:schemeClr val="tx1">
                    <a:lumMod val="95000"/>
                    <a:lumOff val="5000"/>
                  </a:schemeClr>
                </a:solidFill>
                <a:effectLst/>
                <a:latin typeface="Poppins"/>
                <a:cs typeface="Poppins"/>
              </a:rPr>
              <a:t>Foundation</a:t>
            </a:r>
          </a:p>
        </p:txBody>
      </p:sp>
      <p:pic>
        <p:nvPicPr>
          <p:cNvPr id="1026" name="Picture 2" descr="Ameriprise logo and symbol, meaning, history, PNG">
            <a:extLst>
              <a:ext uri="{FF2B5EF4-FFF2-40B4-BE49-F238E27FC236}">
                <a16:creationId xmlns:a16="http://schemas.microsoft.com/office/drawing/2014/main" id="{0E6099D5-6805-A40B-31A3-6FD1B36DC198}"/>
              </a:ext>
            </a:extLst>
          </p:cNvPr>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t="15467" b="15745"/>
          <a:stretch/>
        </p:blipFill>
        <p:spPr bwMode="auto">
          <a:xfrm>
            <a:off x="6681618" y="3716560"/>
            <a:ext cx="1745632" cy="7363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ffordable Direct Air Capture at Scale | Capture6">
            <a:extLst>
              <a:ext uri="{FF2B5EF4-FFF2-40B4-BE49-F238E27FC236}">
                <a16:creationId xmlns:a16="http://schemas.microsoft.com/office/drawing/2014/main" id="{1DAA2D60-7F45-5A11-509C-566F1DEE0281}"/>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9513297" y="4355126"/>
            <a:ext cx="1485900" cy="12382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 ">
            <a:extLst>
              <a:ext uri="{FF2B5EF4-FFF2-40B4-BE49-F238E27FC236}">
                <a16:creationId xmlns:a16="http://schemas.microsoft.com/office/drawing/2014/main" id="{4CC6DB98-E509-8298-570B-0D3EF7BA22E2}"/>
              </a:ext>
            </a:extLst>
          </p:cNvPr>
          <p:cNvPicPr>
            <a:picLocks noChangeAspect="1" noChangeArrowheads="1"/>
          </p:cNvPicPr>
          <p:nvPr/>
        </p:nvPicPr>
        <p:blipFill rotWithShape="1">
          <a:blip r:embed="rId12" cstate="email">
            <a:extLst>
              <a:ext uri="{28A0092B-C50C-407E-A947-70E740481C1C}">
                <a14:useLocalDpi xmlns:a14="http://schemas.microsoft.com/office/drawing/2010/main"/>
              </a:ext>
            </a:extLst>
          </a:blip>
          <a:srcRect/>
          <a:stretch/>
        </p:blipFill>
        <p:spPr bwMode="auto">
          <a:xfrm>
            <a:off x="10886676" y="5236495"/>
            <a:ext cx="1304925" cy="11474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undraising Consulting Firm | CCS Fundraising">
            <a:extLst>
              <a:ext uri="{FF2B5EF4-FFF2-40B4-BE49-F238E27FC236}">
                <a16:creationId xmlns:a16="http://schemas.microsoft.com/office/drawing/2014/main" id="{9F506D04-5558-966A-61A3-F6825C7EBA2B}"/>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8924260" y="1496304"/>
            <a:ext cx="1204515" cy="6990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42CDFE38-9E4B-A709-DA9B-90BC8D9D187D}"/>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10581577" y="922861"/>
            <a:ext cx="1104224" cy="1148905"/>
          </a:xfrm>
          <a:prstGeom prst="rect">
            <a:avLst/>
          </a:prstGeom>
        </p:spPr>
      </p:pic>
      <p:pic>
        <p:nvPicPr>
          <p:cNvPr id="2052" name="Picture 4">
            <a:extLst>
              <a:ext uri="{FF2B5EF4-FFF2-40B4-BE49-F238E27FC236}">
                <a16:creationId xmlns:a16="http://schemas.microsoft.com/office/drawing/2014/main" id="{5359A80E-8002-5DD0-3F57-A424D886B8B3}"/>
              </a:ext>
            </a:extLst>
          </p:cNvPr>
          <p:cNvPicPr>
            <a:picLocks noChangeAspect="1" noChangeArrowheads="1"/>
          </p:cNvPicPr>
          <p:nvPr/>
        </p:nvPicPr>
        <p:blipFill rotWithShape="1">
          <a:blip r:embed="rId15" cstate="email">
            <a:extLst>
              <a:ext uri="{28A0092B-C50C-407E-A947-70E740481C1C}">
                <a14:useLocalDpi xmlns:a14="http://schemas.microsoft.com/office/drawing/2010/main"/>
              </a:ext>
            </a:extLst>
          </a:blip>
          <a:srcRect/>
          <a:stretch/>
        </p:blipFill>
        <p:spPr bwMode="auto">
          <a:xfrm>
            <a:off x="6269022" y="5435917"/>
            <a:ext cx="2167425" cy="52901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ack text on a black background&#10;&#10;Description automatically generated">
            <a:extLst>
              <a:ext uri="{FF2B5EF4-FFF2-40B4-BE49-F238E27FC236}">
                <a16:creationId xmlns:a16="http://schemas.microsoft.com/office/drawing/2014/main" id="{E4F92904-CF6F-3D74-166C-6D9105DE4580}"/>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
        <p:nvSpPr>
          <p:cNvPr id="17" name="TextBox 16">
            <a:extLst>
              <a:ext uri="{FF2B5EF4-FFF2-40B4-BE49-F238E27FC236}">
                <a16:creationId xmlns:a16="http://schemas.microsoft.com/office/drawing/2014/main" id="{673EF350-EBE7-F3D9-D650-4738C285FE6E}"/>
              </a:ext>
            </a:extLst>
          </p:cNvPr>
          <p:cNvSpPr txBox="1"/>
          <p:nvPr/>
        </p:nvSpPr>
        <p:spPr>
          <a:xfrm>
            <a:off x="280923" y="171260"/>
            <a:ext cx="6830629" cy="1323439"/>
          </a:xfrm>
          <a:prstGeom prst="rect">
            <a:avLst/>
          </a:prstGeom>
          <a:noFill/>
        </p:spPr>
        <p:txBody>
          <a:bodyPr wrap="square">
            <a:spAutoFit/>
          </a:bodyPr>
          <a:lstStyle/>
          <a:p>
            <a:r>
              <a:rPr lang="en-US" sz="4000" dirty="0">
                <a:solidFill>
                  <a:srgbClr val="52D09D"/>
                </a:solidFill>
                <a:latin typeface="Impact" panose="020B0806030902050204" pitchFamily="34" charset="0"/>
                <a:cs typeface="Poppins"/>
                <a:sym typeface="Poppins"/>
              </a:rPr>
              <a:t>SOME OF OUR PARTNERSHIPS FOR CHANGE</a:t>
            </a:r>
            <a:endParaRPr lang="en-US" sz="4000" dirty="0"/>
          </a:p>
        </p:txBody>
      </p:sp>
      <p:pic>
        <p:nvPicPr>
          <p:cNvPr id="2" name="Picture 1" descr="A green and black logo&#10;&#10;AI-generated content may be incorrect.">
            <a:extLst>
              <a:ext uri="{FF2B5EF4-FFF2-40B4-BE49-F238E27FC236}">
                <a16:creationId xmlns:a16="http://schemas.microsoft.com/office/drawing/2014/main" id="{E10CBD36-AE5E-B117-B832-52A52AAC9E01}"/>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9386888" y="2614613"/>
            <a:ext cx="1076325" cy="828675"/>
          </a:xfrm>
          <a:prstGeom prst="rect">
            <a:avLst/>
          </a:prstGeom>
        </p:spPr>
      </p:pic>
      <p:pic>
        <p:nvPicPr>
          <p:cNvPr id="9" name="Picture 8" descr="A red and black text&#10;&#10;AI-generated content may be incorrect.">
            <a:extLst>
              <a:ext uri="{FF2B5EF4-FFF2-40B4-BE49-F238E27FC236}">
                <a16:creationId xmlns:a16="http://schemas.microsoft.com/office/drawing/2014/main" id="{BED1ABC4-4E95-8C5C-2F0B-C0F6750ECA4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8429625" y="338972"/>
            <a:ext cx="1409700" cy="674606"/>
          </a:xfrm>
          <a:prstGeom prst="rect">
            <a:avLst/>
          </a:prstGeom>
        </p:spPr>
      </p:pic>
      <p:pic>
        <p:nvPicPr>
          <p:cNvPr id="14" name="Picture 13" descr="A green and black logo&#10;&#10;AI-generated content may be incorrect.">
            <a:extLst>
              <a:ext uri="{FF2B5EF4-FFF2-40B4-BE49-F238E27FC236}">
                <a16:creationId xmlns:a16="http://schemas.microsoft.com/office/drawing/2014/main" id="{3049A27A-0114-8465-AC95-067D4DDCD7D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676340" y="2608378"/>
            <a:ext cx="1057275" cy="1123950"/>
          </a:xfrm>
          <a:prstGeom prst="rect">
            <a:avLst/>
          </a:prstGeom>
        </p:spPr>
      </p:pic>
      <p:pic>
        <p:nvPicPr>
          <p:cNvPr id="15" name="Picture 14">
            <a:extLst>
              <a:ext uri="{FF2B5EF4-FFF2-40B4-BE49-F238E27FC236}">
                <a16:creationId xmlns:a16="http://schemas.microsoft.com/office/drawing/2014/main" id="{DFCE5690-DA30-AAF5-0033-2F6F8836445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8672513" y="3709988"/>
            <a:ext cx="2324100" cy="638175"/>
          </a:xfrm>
          <a:prstGeom prst="rect">
            <a:avLst/>
          </a:prstGeom>
        </p:spPr>
      </p:pic>
      <p:pic>
        <p:nvPicPr>
          <p:cNvPr id="2050" name="Picture 2" descr="Newsroom - Chan Zuckerberg Initiative">
            <a:extLst>
              <a:ext uri="{FF2B5EF4-FFF2-40B4-BE49-F238E27FC236}">
                <a16:creationId xmlns:a16="http://schemas.microsoft.com/office/drawing/2014/main" id="{0FD4D903-FDCF-71FB-0DF0-EC703F254D08}"/>
              </a:ext>
            </a:extLst>
          </p:cNvPr>
          <p:cNvPicPr>
            <a:picLocks noChangeAspect="1" noChangeArrowheads="1"/>
          </p:cNvPicPr>
          <p:nvPr/>
        </p:nvPicPr>
        <p:blipFill rotWithShape="1">
          <a:blip r:embed="rId21" cstate="email">
            <a:extLst>
              <a:ext uri="{28A0092B-C50C-407E-A947-70E740481C1C}">
                <a14:useLocalDpi xmlns:a14="http://schemas.microsoft.com/office/drawing/2010/main"/>
              </a:ext>
            </a:extLst>
          </a:blip>
          <a:srcRect/>
          <a:stretch>
            <a:fillRect/>
          </a:stretch>
        </p:blipFill>
        <p:spPr bwMode="auto">
          <a:xfrm>
            <a:off x="6059804" y="1974165"/>
            <a:ext cx="924682" cy="844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16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7113A-D6CF-D744-B47A-4323982B3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658EF-AD19-C552-812B-16EB73F23FDF}"/>
              </a:ext>
            </a:extLst>
          </p:cNvPr>
          <p:cNvSpPr>
            <a:spLocks noGrp="1"/>
          </p:cNvSpPr>
          <p:nvPr>
            <p:ph type="title"/>
          </p:nvPr>
        </p:nvSpPr>
        <p:spPr>
          <a:xfrm>
            <a:off x="426317" y="216290"/>
            <a:ext cx="10515600" cy="1325563"/>
          </a:xfrm>
        </p:spPr>
        <p:txBody>
          <a:bodyPr>
            <a:normAutofit fontScale="90000"/>
          </a:bodyPr>
          <a:lstStyle/>
          <a:p>
            <a:r>
              <a:rPr lang="en-US" sz="4400" dirty="0">
                <a:solidFill>
                  <a:srgbClr val="52D09D"/>
                </a:solidFill>
                <a:latin typeface="Impact" panose="020B0806030902050204" pitchFamily="34" charset="0"/>
              </a:rPr>
              <a:t>IMPACT CARDS -- BEHIND EVERY GIFT IS A STORY</a:t>
            </a:r>
            <a:br>
              <a:rPr lang="en-US" sz="4400" dirty="0">
                <a:solidFill>
                  <a:srgbClr val="52D09D"/>
                </a:solidFill>
                <a:latin typeface="Impact" panose="020B0806030902050204" pitchFamily="34" charset="0"/>
              </a:rPr>
            </a:br>
            <a:endParaRPr lang="en-US" dirty="0"/>
          </a:p>
        </p:txBody>
      </p:sp>
      <p:pic>
        <p:nvPicPr>
          <p:cNvPr id="6" name="Picture 5" descr="A couple of men smiling and a blackboard&#10;&#10;Description automatically generated">
            <a:extLst>
              <a:ext uri="{FF2B5EF4-FFF2-40B4-BE49-F238E27FC236}">
                <a16:creationId xmlns:a16="http://schemas.microsoft.com/office/drawing/2014/main" id="{9383D174-E280-26B5-7F08-BF1D453982A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0604" y="1646617"/>
            <a:ext cx="3798861" cy="2532574"/>
          </a:xfrm>
          <a:prstGeom prst="rect">
            <a:avLst/>
          </a:prstGeom>
        </p:spPr>
      </p:pic>
      <p:pic>
        <p:nvPicPr>
          <p:cNvPr id="8" name="Picture 7" descr="A person standing in front of a curtain&#10;&#10;Description automatically generated">
            <a:extLst>
              <a:ext uri="{FF2B5EF4-FFF2-40B4-BE49-F238E27FC236}">
                <a16:creationId xmlns:a16="http://schemas.microsoft.com/office/drawing/2014/main" id="{525E70FC-F39C-1532-E04A-07D3F7C80AD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39991" y="4154166"/>
            <a:ext cx="3798861" cy="2532574"/>
          </a:xfrm>
          <a:prstGeom prst="rect">
            <a:avLst/>
          </a:prstGeom>
        </p:spPr>
      </p:pic>
      <p:pic>
        <p:nvPicPr>
          <p:cNvPr id="10" name="Picture 9" descr="A group of people posing for a photo&#10;&#10;Description automatically generated">
            <a:extLst>
              <a:ext uri="{FF2B5EF4-FFF2-40B4-BE49-F238E27FC236}">
                <a16:creationId xmlns:a16="http://schemas.microsoft.com/office/drawing/2014/main" id="{B47600BD-5F56-A0F6-1431-036A7033417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69215" y="1664202"/>
            <a:ext cx="3798861" cy="2532574"/>
          </a:xfrm>
          <a:prstGeom prst="rect">
            <a:avLst/>
          </a:prstGeom>
        </p:spPr>
      </p:pic>
      <p:pic>
        <p:nvPicPr>
          <p:cNvPr id="12" name="Picture 11" descr="A person wearing a mask and working with a circular saw&#10;&#10;Description automatically generated">
            <a:extLst>
              <a:ext uri="{FF2B5EF4-FFF2-40B4-BE49-F238E27FC236}">
                <a16:creationId xmlns:a16="http://schemas.microsoft.com/office/drawing/2014/main" id="{31C8B71E-91AC-3EF5-A9A6-4E1BC2D6DAD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081380" y="4133122"/>
            <a:ext cx="3798861" cy="2532574"/>
          </a:xfrm>
          <a:prstGeom prst="rect">
            <a:avLst/>
          </a:prstGeom>
        </p:spPr>
      </p:pic>
      <p:sp>
        <p:nvSpPr>
          <p:cNvPr id="13" name="Alternate Process 18">
            <a:extLst>
              <a:ext uri="{FF2B5EF4-FFF2-40B4-BE49-F238E27FC236}">
                <a16:creationId xmlns:a16="http://schemas.microsoft.com/office/drawing/2014/main" id="{681C00ED-EC1C-396F-AD2C-DCE6B32581CC}"/>
              </a:ext>
            </a:extLst>
          </p:cNvPr>
          <p:cNvSpPr/>
          <p:nvPr/>
        </p:nvSpPr>
        <p:spPr>
          <a:xfrm>
            <a:off x="9637066" y="957613"/>
            <a:ext cx="595085" cy="510746"/>
          </a:xfrm>
          <a:prstGeom prst="flowChartDelay">
            <a:avLst/>
          </a:prstGeom>
          <a:solidFill>
            <a:srgbClr val="84C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2D09D"/>
              </a:solidFill>
            </a:endParaRPr>
          </a:p>
        </p:txBody>
      </p:sp>
      <p:sp>
        <p:nvSpPr>
          <p:cNvPr id="14" name="Rounded Rectangle 16">
            <a:extLst>
              <a:ext uri="{FF2B5EF4-FFF2-40B4-BE49-F238E27FC236}">
                <a16:creationId xmlns:a16="http://schemas.microsoft.com/office/drawing/2014/main" id="{3FDA28AF-D15E-2130-C999-5196341A034C}"/>
              </a:ext>
            </a:extLst>
          </p:cNvPr>
          <p:cNvSpPr/>
          <p:nvPr/>
        </p:nvSpPr>
        <p:spPr>
          <a:xfrm rot="10800000">
            <a:off x="-232227" y="957613"/>
            <a:ext cx="9971649" cy="510743"/>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2D09D"/>
              </a:solidFill>
            </a:endParaRPr>
          </a:p>
        </p:txBody>
      </p:sp>
      <p:sp>
        <p:nvSpPr>
          <p:cNvPr id="15" name="Rectangle 14">
            <a:extLst>
              <a:ext uri="{FF2B5EF4-FFF2-40B4-BE49-F238E27FC236}">
                <a16:creationId xmlns:a16="http://schemas.microsoft.com/office/drawing/2014/main" id="{45582F6B-566E-8B33-1A75-CC756CBAE2F2}"/>
              </a:ext>
            </a:extLst>
          </p:cNvPr>
          <p:cNvSpPr/>
          <p:nvPr/>
        </p:nvSpPr>
        <p:spPr>
          <a:xfrm>
            <a:off x="562891" y="996024"/>
            <a:ext cx="11066217" cy="430887"/>
          </a:xfrm>
          <a:prstGeom prst="rect">
            <a:avLst/>
          </a:prstGeom>
        </p:spPr>
        <p:txBody>
          <a:bodyPr wrap="square">
            <a:spAutoFit/>
          </a:bodyPr>
          <a:lstStyle/>
          <a:p>
            <a:r>
              <a:rPr lang="en-US" sz="2200" i="1" dirty="0">
                <a:solidFill>
                  <a:schemeClr val="tx1">
                    <a:lumMod val="65000"/>
                    <a:lumOff val="35000"/>
                  </a:schemeClr>
                </a:solidFill>
                <a:latin typeface="Calibri" panose="020F0502020204030204" pitchFamily="34" charset="0"/>
                <a:cs typeface="Calibri" panose="020F0502020204030204" pitchFamily="34" charset="0"/>
              </a:rPr>
              <a:t>We make sure your recipients feel the joy of your gift choice! </a:t>
            </a:r>
            <a:endParaRPr lang="en-US" sz="2200" dirty="0">
              <a:solidFill>
                <a:schemeClr val="tx1">
                  <a:lumMod val="65000"/>
                  <a:lumOff val="35000"/>
                </a:schemeClr>
              </a:solidFill>
              <a:latin typeface="Calibri" panose="020F0502020204030204" pitchFamily="34" charset="0"/>
              <a:cs typeface="Calibri" panose="020F0502020204030204" pitchFamily="34" charset="0"/>
            </a:endParaRPr>
          </a:p>
        </p:txBody>
      </p:sp>
      <p:pic>
        <p:nvPicPr>
          <p:cNvPr id="3" name="Picture 2" descr="A black text on a black background&#10;&#10;Description automatically generated">
            <a:extLst>
              <a:ext uri="{FF2B5EF4-FFF2-40B4-BE49-F238E27FC236}">
                <a16:creationId xmlns:a16="http://schemas.microsoft.com/office/drawing/2014/main" id="{B9AB84EA-5E5D-B09E-1542-C5A7A663730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21630" y="6497127"/>
            <a:ext cx="1818415" cy="289166"/>
          </a:xfrm>
          <a:prstGeom prst="rect">
            <a:avLst/>
          </a:prstGeom>
        </p:spPr>
      </p:pic>
    </p:spTree>
    <p:extLst>
      <p:ext uri="{BB962C8B-B14F-4D97-AF65-F5344CB8AC3E}">
        <p14:creationId xmlns:p14="http://schemas.microsoft.com/office/powerpoint/2010/main" val="273636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person sitting at a table with a sewing machine&#10;&#10;AI-generated content may be incorrect.">
            <a:extLst>
              <a:ext uri="{FF2B5EF4-FFF2-40B4-BE49-F238E27FC236}">
                <a16:creationId xmlns:a16="http://schemas.microsoft.com/office/drawing/2014/main" id="{A9FB38C4-F407-C3B4-9663-B79880A3DFCF}"/>
              </a:ext>
            </a:extLst>
          </p:cNvPr>
          <p:cNvPicPr>
            <a:picLocks noChangeAspect="1"/>
          </p:cNvPicPr>
          <p:nvPr/>
        </p:nvPicPr>
        <p:blipFill>
          <a:blip r:embed="rId2" cstate="email">
            <a:extLst>
              <a:ext uri="{28A0092B-C50C-407E-A947-70E740481C1C}">
                <a14:useLocalDpi xmlns:a14="http://schemas.microsoft.com/office/drawing/2010/main"/>
              </a:ext>
            </a:extLst>
          </a:blip>
          <a:srcRect t="-1277"/>
          <a:stretch/>
        </p:blipFill>
        <p:spPr>
          <a:xfrm>
            <a:off x="-5087" y="1800388"/>
            <a:ext cx="2537564" cy="2050800"/>
          </a:xfrm>
          <a:prstGeom prst="rect">
            <a:avLst/>
          </a:prstGeom>
        </p:spPr>
      </p:pic>
      <p:pic>
        <p:nvPicPr>
          <p:cNvPr id="17" name="Picture 16" descr="A person in a blue shirt&#10;&#10;AI-generated content may be incorrect.">
            <a:extLst>
              <a:ext uri="{FF2B5EF4-FFF2-40B4-BE49-F238E27FC236}">
                <a16:creationId xmlns:a16="http://schemas.microsoft.com/office/drawing/2014/main" id="{F15A583E-598F-6D87-2AA6-61F70677D63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8700" y="3838575"/>
            <a:ext cx="3257550" cy="2114550"/>
          </a:xfrm>
          <a:prstGeom prst="rect">
            <a:avLst/>
          </a:prstGeom>
        </p:spPr>
      </p:pic>
      <p:sp>
        <p:nvSpPr>
          <p:cNvPr id="5" name="TextBox 4">
            <a:extLst>
              <a:ext uri="{FF2B5EF4-FFF2-40B4-BE49-F238E27FC236}">
                <a16:creationId xmlns:a16="http://schemas.microsoft.com/office/drawing/2014/main" id="{8BE6DF8B-8C32-AA94-143D-0036527DA768}"/>
              </a:ext>
            </a:extLst>
          </p:cNvPr>
          <p:cNvSpPr txBox="1"/>
          <p:nvPr/>
        </p:nvSpPr>
        <p:spPr>
          <a:xfrm>
            <a:off x="189571" y="82507"/>
            <a:ext cx="1161957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dirty="0">
                <a:solidFill>
                  <a:srgbClr val="52D09D"/>
                </a:solidFill>
                <a:latin typeface="Impact"/>
              </a:rPr>
              <a:t>THIS IS THE POWER OF DIGNIFIED WORK.</a:t>
            </a:r>
            <a:endParaRPr lang="en-US" sz="4800" dirty="0">
              <a:solidFill>
                <a:srgbClr val="52D09D"/>
              </a:solidFill>
            </a:endParaRPr>
          </a:p>
        </p:txBody>
      </p:sp>
      <p:sp>
        <p:nvSpPr>
          <p:cNvPr id="6" name="TextBox 5">
            <a:extLst>
              <a:ext uri="{FF2B5EF4-FFF2-40B4-BE49-F238E27FC236}">
                <a16:creationId xmlns:a16="http://schemas.microsoft.com/office/drawing/2014/main" id="{FF604D1B-2447-B32E-E3B5-5543CD728002}"/>
              </a:ext>
            </a:extLst>
          </p:cNvPr>
          <p:cNvSpPr txBox="1"/>
          <p:nvPr/>
        </p:nvSpPr>
        <p:spPr>
          <a:xfrm>
            <a:off x="6807525" y="1129888"/>
            <a:ext cx="54347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tx1">
                    <a:lumMod val="65000"/>
                    <a:lumOff val="35000"/>
                  </a:schemeClr>
                </a:solidFill>
                <a:latin typeface="Impact"/>
              </a:rPr>
              <a:t>THESE ARE THE FACES OF CHANGE.</a:t>
            </a:r>
            <a:endParaRPr lang="en-US" dirty="0">
              <a:solidFill>
                <a:schemeClr val="tx1">
                  <a:lumMod val="65000"/>
                  <a:lumOff val="35000"/>
                </a:schemeClr>
              </a:solidFill>
            </a:endParaRPr>
          </a:p>
        </p:txBody>
      </p:sp>
      <p:pic>
        <p:nvPicPr>
          <p:cNvPr id="7" name="Picture 6" descr="A person looking at something&#10;&#10;AI-generated content may be incorrect.">
            <a:extLst>
              <a:ext uri="{FF2B5EF4-FFF2-40B4-BE49-F238E27FC236}">
                <a16:creationId xmlns:a16="http://schemas.microsoft.com/office/drawing/2014/main" id="{3F7BB6D2-5DED-ECD3-D5BD-B0A52176AC8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32569" y="1809750"/>
            <a:ext cx="3317212" cy="2133600"/>
          </a:xfrm>
          <a:prstGeom prst="rect">
            <a:avLst/>
          </a:prstGeom>
        </p:spPr>
      </p:pic>
      <p:pic>
        <p:nvPicPr>
          <p:cNvPr id="8" name="Picture 7" descr="A person sitting at a table&#10;&#10;AI-generated content may be incorrect.">
            <a:extLst>
              <a:ext uri="{FF2B5EF4-FFF2-40B4-BE49-F238E27FC236}">
                <a16:creationId xmlns:a16="http://schemas.microsoft.com/office/drawing/2014/main" id="{F32AEC45-1B0F-3F14-0C22-74F1267AEF7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48525" y="1809750"/>
            <a:ext cx="2276475" cy="2914650"/>
          </a:xfrm>
          <a:prstGeom prst="rect">
            <a:avLst/>
          </a:prstGeom>
        </p:spPr>
      </p:pic>
      <p:pic>
        <p:nvPicPr>
          <p:cNvPr id="9" name="Picture 8" descr="A person in a red head scarf standing in a doorway&#10;&#10;AI-generated content may be incorrect.">
            <a:extLst>
              <a:ext uri="{FF2B5EF4-FFF2-40B4-BE49-F238E27FC236}">
                <a16:creationId xmlns:a16="http://schemas.microsoft.com/office/drawing/2014/main" id="{C59DD536-AFB7-60FB-8851-A9AE66367647}"/>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6603" y="3834640"/>
            <a:ext cx="1559334" cy="2118194"/>
          </a:xfrm>
          <a:prstGeom prst="rect">
            <a:avLst/>
          </a:prstGeom>
        </p:spPr>
      </p:pic>
      <p:pic>
        <p:nvPicPr>
          <p:cNvPr id="12" name="Picture 11" descr="A person in blue dress and head wrap holding a spool of white thread&#10;&#10;AI-generated content may be incorrect.">
            <a:extLst>
              <a:ext uri="{FF2B5EF4-FFF2-40B4-BE49-F238E27FC236}">
                <a16:creationId xmlns:a16="http://schemas.microsoft.com/office/drawing/2014/main" id="{26CC50DF-496E-7A90-153D-0657FF1FC4E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336836" y="3838575"/>
            <a:ext cx="3328578" cy="2114550"/>
          </a:xfrm>
          <a:prstGeom prst="rect">
            <a:avLst/>
          </a:prstGeom>
        </p:spPr>
      </p:pic>
      <p:pic>
        <p:nvPicPr>
          <p:cNvPr id="13" name="Picture 12" descr="A person looking at a blue machine&#10;&#10;AI-generated content may be incorrect.">
            <a:extLst>
              <a:ext uri="{FF2B5EF4-FFF2-40B4-BE49-F238E27FC236}">
                <a16:creationId xmlns:a16="http://schemas.microsoft.com/office/drawing/2014/main" id="{6BB9D60A-936A-BD23-906E-6FBC67902E48}"/>
              </a:ext>
            </a:extLst>
          </p:cNvPr>
          <p:cNvPicPr>
            <a:picLocks noChangeAspect="1"/>
          </p:cNvPicPr>
          <p:nvPr/>
        </p:nvPicPr>
        <p:blipFill>
          <a:blip r:embed="rId8" cstate="email">
            <a:extLst>
              <a:ext uri="{28A0092B-C50C-407E-A947-70E740481C1C}">
                <a14:useLocalDpi xmlns:a14="http://schemas.microsoft.com/office/drawing/2010/main"/>
              </a:ext>
            </a:extLst>
          </a:blip>
          <a:srcRect t="-1835" r="-439"/>
          <a:stretch/>
        </p:blipFill>
        <p:spPr>
          <a:xfrm>
            <a:off x="3638550" y="3838575"/>
            <a:ext cx="2181227" cy="2114553"/>
          </a:xfrm>
          <a:prstGeom prst="rect">
            <a:avLst/>
          </a:prstGeom>
        </p:spPr>
      </p:pic>
      <p:pic>
        <p:nvPicPr>
          <p:cNvPr id="14" name="Picture 13" descr="A person smiling at the camera&#10;&#10;AI-generated content may be incorrect.">
            <a:extLst>
              <a:ext uri="{FF2B5EF4-FFF2-40B4-BE49-F238E27FC236}">
                <a16:creationId xmlns:a16="http://schemas.microsoft.com/office/drawing/2014/main" id="{CC36567F-DCA3-8469-9899-B79ACF1EC896}"/>
              </a:ext>
            </a:extLst>
          </p:cNvPr>
          <p:cNvPicPr>
            <a:picLocks noChangeAspect="1"/>
          </p:cNvPicPr>
          <p:nvPr/>
        </p:nvPicPr>
        <p:blipFill>
          <a:blip r:embed="rId9" cstate="email">
            <a:extLst>
              <a:ext uri="{28A0092B-C50C-407E-A947-70E740481C1C}">
                <a14:useLocalDpi xmlns:a14="http://schemas.microsoft.com/office/drawing/2010/main"/>
              </a:ext>
            </a:extLst>
          </a:blip>
          <a:srcRect/>
          <a:stretch/>
        </p:blipFill>
        <p:spPr>
          <a:xfrm>
            <a:off x="2323930" y="1801418"/>
            <a:ext cx="2634850" cy="2039275"/>
          </a:xfrm>
          <a:prstGeom prst="rect">
            <a:avLst/>
          </a:prstGeom>
        </p:spPr>
      </p:pic>
      <p:pic>
        <p:nvPicPr>
          <p:cNvPr id="15" name="Picture 14" descr="A person smiling at the camera&#10;&#10;AI-generated content may be incorrect.">
            <a:extLst>
              <a:ext uri="{FF2B5EF4-FFF2-40B4-BE49-F238E27FC236}">
                <a16:creationId xmlns:a16="http://schemas.microsoft.com/office/drawing/2014/main" id="{DAC079F1-E558-BEE2-BF0A-87D875950174}"/>
              </a:ext>
            </a:extLst>
          </p:cNvPr>
          <p:cNvPicPr>
            <a:picLocks noChangeAspect="1"/>
          </p:cNvPicPr>
          <p:nvPr/>
        </p:nvPicPr>
        <p:blipFill>
          <a:blip r:embed="rId10" cstate="email">
            <a:extLst>
              <a:ext uri="{28A0092B-C50C-407E-A947-70E740481C1C}">
                <a14:useLocalDpi xmlns:a14="http://schemas.microsoft.com/office/drawing/2010/main"/>
              </a:ext>
            </a:extLst>
          </a:blip>
          <a:srcRect/>
          <a:stretch/>
        </p:blipFill>
        <p:spPr>
          <a:xfrm>
            <a:off x="9530916" y="1808058"/>
            <a:ext cx="2660748" cy="2051360"/>
          </a:xfrm>
          <a:prstGeom prst="rect">
            <a:avLst/>
          </a:prstGeom>
        </p:spPr>
      </p:pic>
      <p:pic>
        <p:nvPicPr>
          <p:cNvPr id="16" name="Picture 15" descr="A person smiling at camera&#10;&#10;AI-generated content may be incorrect.">
            <a:extLst>
              <a:ext uri="{FF2B5EF4-FFF2-40B4-BE49-F238E27FC236}">
                <a16:creationId xmlns:a16="http://schemas.microsoft.com/office/drawing/2014/main" id="{C55248B9-086C-7080-F470-9BC476AD80C4}"/>
              </a:ext>
            </a:extLst>
          </p:cNvPr>
          <p:cNvPicPr>
            <a:picLocks noChangeAspect="1"/>
          </p:cNvPicPr>
          <p:nvPr/>
        </p:nvPicPr>
        <p:blipFill>
          <a:blip r:embed="rId11" cstate="email">
            <a:extLst>
              <a:ext uri="{28A0092B-C50C-407E-A947-70E740481C1C}">
                <a14:useLocalDpi xmlns:a14="http://schemas.microsoft.com/office/drawing/2010/main"/>
              </a:ext>
            </a:extLst>
          </a:blip>
          <a:srcRect t="-1028"/>
          <a:stretch/>
        </p:blipFill>
        <p:spPr>
          <a:xfrm>
            <a:off x="10306968" y="3839428"/>
            <a:ext cx="1897182" cy="2114760"/>
          </a:xfrm>
          <a:prstGeom prst="rect">
            <a:avLst/>
          </a:prstGeom>
        </p:spPr>
      </p:pic>
      <p:pic>
        <p:nvPicPr>
          <p:cNvPr id="11" name="Picture 10" descr="A person holding a blue bag&#10;&#10;AI-generated content may be incorrect.">
            <a:extLst>
              <a:ext uri="{FF2B5EF4-FFF2-40B4-BE49-F238E27FC236}">
                <a16:creationId xmlns:a16="http://schemas.microsoft.com/office/drawing/2014/main" id="{A0089031-D602-28D4-F0FD-C267C2A390F4}"/>
              </a:ext>
            </a:extLst>
          </p:cNvPr>
          <p:cNvPicPr>
            <a:picLocks noChangeAspect="1"/>
          </p:cNvPicPr>
          <p:nvPr/>
        </p:nvPicPr>
        <p:blipFill>
          <a:blip r:embed="rId12" cstate="email">
            <a:extLst>
              <a:ext uri="{28A0092B-C50C-407E-A947-70E740481C1C}">
                <a14:useLocalDpi xmlns:a14="http://schemas.microsoft.com/office/drawing/2010/main"/>
              </a:ext>
            </a:extLst>
          </a:blip>
          <a:srcRect/>
          <a:stretch/>
        </p:blipFill>
        <p:spPr>
          <a:xfrm>
            <a:off x="5591175" y="3835495"/>
            <a:ext cx="2181225" cy="2118160"/>
          </a:xfrm>
          <a:prstGeom prst="rect">
            <a:avLst/>
          </a:prstGeom>
        </p:spPr>
      </p:pic>
      <p:pic>
        <p:nvPicPr>
          <p:cNvPr id="3" name="Picture 2">
            <a:extLst>
              <a:ext uri="{FF2B5EF4-FFF2-40B4-BE49-F238E27FC236}">
                <a16:creationId xmlns:a16="http://schemas.microsoft.com/office/drawing/2014/main" id="{1EAC7742-FA71-A70A-D156-A047FC5D6497}"/>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6460" y="6437923"/>
            <a:ext cx="1869017" cy="290730"/>
          </a:xfrm>
          <a:prstGeom prst="rect">
            <a:avLst/>
          </a:prstGeom>
        </p:spPr>
      </p:pic>
    </p:spTree>
    <p:extLst>
      <p:ext uri="{BB962C8B-B14F-4D97-AF65-F5344CB8AC3E}">
        <p14:creationId xmlns:p14="http://schemas.microsoft.com/office/powerpoint/2010/main" val="1856648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53" name="Google Shape;153;p18"/>
          <p:cNvSpPr txBox="1">
            <a:spLocks noGrp="1"/>
          </p:cNvSpPr>
          <p:nvPr>
            <p:ph type="title"/>
          </p:nvPr>
        </p:nvSpPr>
        <p:spPr>
          <a:xfrm>
            <a:off x="252572" y="195129"/>
            <a:ext cx="11939428" cy="510745"/>
          </a:xfrm>
          <a:prstGeom prst="rect">
            <a:avLst/>
          </a:prstGeom>
          <a:noFill/>
          <a:ln>
            <a:noFill/>
          </a:ln>
        </p:spPr>
        <p:txBody>
          <a:bodyPr spcFirstLastPara="1" wrap="square" lIns="91425" tIns="45700" rIns="91425" bIns="45700" anchor="t" anchorCtr="0">
            <a:noAutofit/>
          </a:bodyPr>
          <a:lstStyle/>
          <a:p>
            <a:pPr>
              <a:lnSpc>
                <a:spcPct val="100000"/>
              </a:lnSpc>
              <a:spcBef>
                <a:spcPts val="0"/>
              </a:spcBef>
              <a:buClr>
                <a:srgbClr val="3A3A3A"/>
              </a:buClr>
              <a:buSzPts val="3600"/>
            </a:pPr>
            <a:r>
              <a:rPr lang="en-US" sz="4000" dirty="0">
                <a:solidFill>
                  <a:srgbClr val="52D09D"/>
                </a:solidFill>
                <a:latin typeface="Impact"/>
                <a:ea typeface="Poppins"/>
                <a:cs typeface="Poppins"/>
                <a:sym typeface="Poppins"/>
              </a:rPr>
              <a:t>PRICING FOR CARDS &amp; KITTING</a:t>
            </a:r>
            <a:endParaRPr lang="en-US" sz="4000" i="1" dirty="0">
              <a:solidFill>
                <a:srgbClr val="52D09D"/>
              </a:solidFill>
              <a:latin typeface="Impact"/>
            </a:endParaRPr>
          </a:p>
        </p:txBody>
      </p:sp>
      <p:pic>
        <p:nvPicPr>
          <p:cNvPr id="2" name="Picture 1" descr="A black text on a black background&#10;&#10;Description automatically generated">
            <a:extLst>
              <a:ext uri="{FF2B5EF4-FFF2-40B4-BE49-F238E27FC236}">
                <a16:creationId xmlns:a16="http://schemas.microsoft.com/office/drawing/2014/main" id="{5B154CF7-94B9-2D2B-ED62-2EBED074D76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
        <p:nvSpPr>
          <p:cNvPr id="4" name="Content Placeholder 3">
            <a:extLst>
              <a:ext uri="{FF2B5EF4-FFF2-40B4-BE49-F238E27FC236}">
                <a16:creationId xmlns:a16="http://schemas.microsoft.com/office/drawing/2014/main" id="{60C491D2-FCA3-5E6D-2158-4944903A6C8F}"/>
              </a:ext>
            </a:extLst>
          </p:cNvPr>
          <p:cNvSpPr>
            <a:spLocks noGrp="1"/>
          </p:cNvSpPr>
          <p:nvPr>
            <p:ph idx="1"/>
          </p:nvPr>
        </p:nvSpPr>
        <p:spPr>
          <a:xfrm>
            <a:off x="209165" y="1427470"/>
            <a:ext cx="5114925" cy="4360863"/>
          </a:xfrm>
        </p:spPr>
        <p:txBody>
          <a:bodyPr vert="horz" lIns="91440" tIns="45720" rIns="91440" bIns="45720" rtlCol="0" anchor="t">
            <a:normAutofit fontScale="92500" lnSpcReduction="10000"/>
          </a:bodyPr>
          <a:lstStyle/>
          <a:p>
            <a:r>
              <a:rPr lang="en-US" sz="2000" dirty="0">
                <a:latin typeface="Calibri"/>
                <a:ea typeface="Calibri"/>
                <a:cs typeface="Calibri"/>
              </a:rPr>
              <a:t>Impact Cards (about maker communities):  No Charge</a:t>
            </a:r>
          </a:p>
          <a:p>
            <a:r>
              <a:rPr lang="en-US" sz="2000" dirty="0">
                <a:latin typeface="Calibri"/>
                <a:ea typeface="Calibri"/>
                <a:cs typeface="Calibri"/>
              </a:rPr>
              <a:t>Custom Message Cards: $65 set up/$1.50 per card</a:t>
            </a:r>
          </a:p>
          <a:p>
            <a:r>
              <a:rPr lang="en-US" sz="2000" dirty="0">
                <a:latin typeface="Calibri"/>
                <a:ea typeface="Calibri"/>
                <a:cs typeface="Calibri"/>
              </a:rPr>
              <a:t>Insertion of a card you provide:  No Charge</a:t>
            </a:r>
          </a:p>
          <a:p>
            <a:r>
              <a:rPr lang="en-US" sz="2000" dirty="0">
                <a:latin typeface="Calibri"/>
                <a:ea typeface="Calibri"/>
                <a:cs typeface="Calibri"/>
              </a:rPr>
              <a:t>Kitting for domestic shipments: $10.50/box</a:t>
            </a:r>
            <a:endParaRPr lang="en-US" sz="2000" dirty="0"/>
          </a:p>
          <a:p>
            <a:r>
              <a:rPr lang="en-US" sz="2000" dirty="0">
                <a:latin typeface="Calibri"/>
                <a:ea typeface="Calibri"/>
                <a:cs typeface="Calibri"/>
              </a:rPr>
              <a:t>Kitting for international shipments: $19.00/box</a:t>
            </a:r>
          </a:p>
          <a:p>
            <a:r>
              <a:rPr lang="en-US" sz="2000" dirty="0">
                <a:latin typeface="Calibri"/>
                <a:ea typeface="Calibri"/>
                <a:cs typeface="Calibri"/>
              </a:rPr>
              <a:t>Label making &amp; shipping coordination: $2/box</a:t>
            </a:r>
          </a:p>
          <a:p>
            <a:pPr marL="0" indent="0">
              <a:buNone/>
            </a:pPr>
            <a:endParaRPr lang="en-US" sz="2000" dirty="0">
              <a:latin typeface="Calibri"/>
              <a:ea typeface="Calibri"/>
              <a:cs typeface="Calibri"/>
            </a:endParaRPr>
          </a:p>
          <a:p>
            <a:pPr marL="0" indent="0">
              <a:buNone/>
            </a:pPr>
            <a:r>
              <a:rPr lang="en-US" sz="2000" dirty="0">
                <a:latin typeface="Calibri"/>
                <a:ea typeface="Calibri"/>
                <a:cs typeface="Calibri"/>
              </a:rPr>
              <a:t>*kitting includes shipping logistics but does not include actual shipping charges</a:t>
            </a:r>
          </a:p>
          <a:p>
            <a:pPr marL="0" indent="0">
              <a:buNone/>
            </a:pPr>
            <a:r>
              <a:rPr lang="en-US" sz="2000" dirty="0">
                <a:latin typeface="Calibri"/>
                <a:ea typeface="Calibri"/>
                <a:cs typeface="Calibri"/>
              </a:rPr>
              <a:t>*international kitting includes customs documentation, etc.</a:t>
            </a:r>
          </a:p>
          <a:p>
            <a:pPr marL="0" indent="0">
              <a:buNone/>
            </a:pPr>
            <a:endParaRPr lang="en-US" sz="2000" dirty="0">
              <a:latin typeface="Aptos"/>
              <a:ea typeface="Calibri"/>
              <a:cs typeface="Calibri"/>
            </a:endParaRPr>
          </a:p>
          <a:p>
            <a:pPr marL="0" indent="0">
              <a:buNone/>
            </a:pPr>
            <a:endParaRPr lang="en-US" sz="2000" dirty="0">
              <a:latin typeface="Calibri"/>
              <a:ea typeface="Calibri"/>
              <a:cs typeface="Calibri"/>
            </a:endParaRPr>
          </a:p>
          <a:p>
            <a:endParaRPr lang="en-US" sz="2400" dirty="0">
              <a:latin typeface="Calibri"/>
              <a:ea typeface="Calibri"/>
              <a:cs typeface="Calibri"/>
            </a:endParaRPr>
          </a:p>
        </p:txBody>
      </p:sp>
      <p:pic>
        <p:nvPicPr>
          <p:cNvPr id="7" name="Picture 6" descr="Several boxes with different items on a table&#10;&#10;AI-generated content may be incorrect.">
            <a:extLst>
              <a:ext uri="{FF2B5EF4-FFF2-40B4-BE49-F238E27FC236}">
                <a16:creationId xmlns:a16="http://schemas.microsoft.com/office/drawing/2014/main" id="{1C454725-661A-CDF9-B777-0C8CE0598446}"/>
              </a:ext>
            </a:extLst>
          </p:cNvPr>
          <p:cNvPicPr>
            <a:picLocks noChangeAspect="1"/>
          </p:cNvPicPr>
          <p:nvPr/>
        </p:nvPicPr>
        <p:blipFill>
          <a:blip r:embed="rId4" cstate="email">
            <a:extLst>
              <a:ext uri="{BEBA8EAE-BF5A-486C-A8C5-ECC9F3942E4B}">
                <a14:imgProps xmlns:a14="http://schemas.microsoft.com/office/drawing/2010/main">
                  <a14:imgLayer r:embed="rId5">
                    <a14:imgEffect>
                      <a14:brightnessContrast bright="14000"/>
                    </a14:imgEffect>
                  </a14:imgLayer>
                </a14:imgProps>
              </a:ext>
              <a:ext uri="{28A0092B-C50C-407E-A947-70E740481C1C}">
                <a14:useLocalDpi xmlns:a14="http://schemas.microsoft.com/office/drawing/2010/main"/>
              </a:ext>
            </a:extLst>
          </a:blip>
          <a:stretch>
            <a:fillRect/>
          </a:stretch>
        </p:blipFill>
        <p:spPr>
          <a:xfrm>
            <a:off x="5508860" y="1244600"/>
            <a:ext cx="6683140" cy="5012355"/>
          </a:xfrm>
          <a:prstGeom prst="rect">
            <a:avLst/>
          </a:prstGeom>
        </p:spPr>
      </p:pic>
    </p:spTree>
    <p:extLst>
      <p:ext uri="{BB962C8B-B14F-4D97-AF65-F5344CB8AC3E}">
        <p14:creationId xmlns:p14="http://schemas.microsoft.com/office/powerpoint/2010/main" val="3717696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F0C8-66E0-1632-8084-B3443F788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7BB93-4AC3-A7B7-8573-2D02A85513BA}"/>
              </a:ext>
            </a:extLst>
          </p:cNvPr>
          <p:cNvSpPr>
            <a:spLocks noGrp="1"/>
          </p:cNvSpPr>
          <p:nvPr>
            <p:ph type="title"/>
          </p:nvPr>
        </p:nvSpPr>
        <p:spPr>
          <a:xfrm>
            <a:off x="426317" y="216290"/>
            <a:ext cx="10515600" cy="1325563"/>
          </a:xfrm>
        </p:spPr>
        <p:txBody>
          <a:bodyPr>
            <a:normAutofit/>
          </a:bodyPr>
          <a:lstStyle/>
          <a:p>
            <a:r>
              <a:rPr lang="en-US" dirty="0">
                <a:solidFill>
                  <a:srgbClr val="52D09D"/>
                </a:solidFill>
                <a:latin typeface="Impact"/>
              </a:rPr>
              <a:t>TERMS AND CONDITIONS</a:t>
            </a:r>
            <a:endParaRPr lang="en-US" dirty="0"/>
          </a:p>
        </p:txBody>
      </p:sp>
      <p:sp>
        <p:nvSpPr>
          <p:cNvPr id="4" name="Content Placeholder 2">
            <a:extLst>
              <a:ext uri="{FF2B5EF4-FFF2-40B4-BE49-F238E27FC236}">
                <a16:creationId xmlns:a16="http://schemas.microsoft.com/office/drawing/2014/main" id="{DA4C40A8-7C0A-A1B9-C131-AEBD80575544}"/>
              </a:ext>
            </a:extLst>
          </p:cNvPr>
          <p:cNvSpPr>
            <a:spLocks noGrp="1"/>
          </p:cNvSpPr>
          <p:nvPr/>
        </p:nvSpPr>
        <p:spPr>
          <a:xfrm>
            <a:off x="531125" y="1455998"/>
            <a:ext cx="10515600" cy="435133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000" dirty="0">
                <a:latin typeface="Calibri"/>
                <a:cs typeface="Calibri"/>
              </a:rPr>
              <a:t>Drop shipping and kitting are available</a:t>
            </a:r>
            <a:endParaRPr lang="en-US" sz="2000" dirty="0">
              <a:latin typeface="Calibri"/>
              <a:ea typeface="Calibri"/>
              <a:cs typeface="Calibri"/>
            </a:endParaRPr>
          </a:p>
          <a:p>
            <a:pPr marL="285750" indent="-285750">
              <a:buFont typeface="Arial"/>
              <a:buChar char="•"/>
            </a:pPr>
            <a:r>
              <a:rPr lang="en-US" sz="2000" dirty="0">
                <a:latin typeface="Calibri"/>
                <a:cs typeface="Calibri"/>
              </a:rPr>
              <a:t>For shipments to California zip codes, sales tax will be added</a:t>
            </a:r>
            <a:endParaRPr lang="en-US" sz="2000" dirty="0">
              <a:latin typeface="Calibri"/>
              <a:ea typeface="Calibri"/>
              <a:cs typeface="Calibri"/>
            </a:endParaRPr>
          </a:p>
          <a:p>
            <a:pPr marL="285750" indent="-285750">
              <a:buFont typeface="Arial"/>
              <a:buChar char="•"/>
            </a:pPr>
            <a:r>
              <a:rPr lang="en-US" sz="2000" dirty="0">
                <a:latin typeface="Calibri"/>
                <a:cs typeface="Calibri"/>
              </a:rPr>
              <a:t>Payment terms</a:t>
            </a:r>
            <a:endParaRPr lang="en-US" sz="2000" dirty="0">
              <a:latin typeface="Calibri"/>
              <a:ea typeface="Calibri"/>
              <a:cs typeface="Calibri"/>
            </a:endParaRPr>
          </a:p>
          <a:p>
            <a:pPr marL="742950" lvl="1" indent="-285750">
              <a:buFont typeface="Arial"/>
              <a:buChar char="•"/>
            </a:pPr>
            <a:r>
              <a:rPr lang="en-US" sz="2000" dirty="0">
                <a:latin typeface="Calibri"/>
                <a:cs typeface="Calibri"/>
              </a:rPr>
              <a:t>50% to initiate a custom order</a:t>
            </a:r>
            <a:endParaRPr lang="en-US" sz="2000" dirty="0">
              <a:latin typeface="Calibri"/>
              <a:ea typeface="Calibri"/>
              <a:cs typeface="Calibri"/>
            </a:endParaRPr>
          </a:p>
          <a:p>
            <a:pPr marL="742950" lvl="1" indent="-285750">
              <a:buFont typeface="Arial"/>
              <a:buChar char="•"/>
            </a:pPr>
            <a:r>
              <a:rPr lang="en-US" sz="2000" dirty="0">
                <a:latin typeface="Calibri"/>
                <a:cs typeface="Calibri"/>
              </a:rPr>
              <a:t>50% upon shipment</a:t>
            </a:r>
          </a:p>
          <a:p>
            <a:pPr marL="742950" lvl="1" indent="-285750">
              <a:buFont typeface="Arial"/>
              <a:buChar char="•"/>
            </a:pPr>
            <a:r>
              <a:rPr lang="en-US" sz="2000" dirty="0">
                <a:latin typeface="Calibri"/>
                <a:ea typeface="Calibri"/>
                <a:cs typeface="Calibri"/>
              </a:rPr>
              <a:t>Customs charges for gifts shipped internationally will be billed to client, which may take up to 120 days post shipment</a:t>
            </a:r>
          </a:p>
          <a:p>
            <a:pPr marL="742950" lvl="1" indent="-285750">
              <a:buFont typeface="Arial"/>
              <a:buChar char="•"/>
            </a:pPr>
            <a:r>
              <a:rPr lang="en-US" sz="2000" dirty="0">
                <a:latin typeface="Calibri"/>
                <a:ea typeface="Calibri"/>
                <a:cs typeface="Calibri"/>
              </a:rPr>
              <a:t>Due to the current uncertainty around US-imposed tariffs, Peace by Piece will bill client for any charges, which may take up to 120 days post shipment</a:t>
            </a:r>
          </a:p>
          <a:p>
            <a:pPr marL="285750" indent="-285750">
              <a:buFont typeface="Arial"/>
              <a:buChar char="•"/>
            </a:pPr>
            <a:r>
              <a:rPr lang="en-US" sz="2000" dirty="0">
                <a:latin typeface="Calibri"/>
                <a:cs typeface="Calibri"/>
              </a:rPr>
              <a:t>No cancellations will be accepted after any custom order has been initiated</a:t>
            </a:r>
          </a:p>
          <a:p>
            <a:pPr marL="285750" indent="-285750">
              <a:buFont typeface="Arial"/>
              <a:buChar char="•"/>
            </a:pPr>
            <a:r>
              <a:rPr lang="en-US" sz="2000" dirty="0">
                <a:latin typeface="Calibri"/>
                <a:ea typeface="Calibri"/>
                <a:cs typeface="Calibri"/>
              </a:rPr>
              <a:t>Gifts returned to Peace by Piece due to incorrect recipient information will incur a $20 fee plus any additional returned shipping charges from the carrier. If a new address is not provided within 30 days of the gift's return, the gift will be shipped back to the client for distribution</a:t>
            </a:r>
          </a:p>
          <a:p>
            <a:endParaRPr lang="en-US" sz="2000" dirty="0">
              <a:latin typeface="Calibri"/>
              <a:ea typeface="Calibri"/>
              <a:cs typeface="Calibri"/>
            </a:endParaRPr>
          </a:p>
        </p:txBody>
      </p:sp>
      <p:pic>
        <p:nvPicPr>
          <p:cNvPr id="5" name="Picture 4" descr="A black text on a black background&#10;&#10;Description automatically generated">
            <a:extLst>
              <a:ext uri="{FF2B5EF4-FFF2-40B4-BE49-F238E27FC236}">
                <a16:creationId xmlns:a16="http://schemas.microsoft.com/office/drawing/2014/main" id="{AC31961D-032C-2793-B287-7DA5D0013DB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Tree>
    <p:extLst>
      <p:ext uri="{BB962C8B-B14F-4D97-AF65-F5344CB8AC3E}">
        <p14:creationId xmlns:p14="http://schemas.microsoft.com/office/powerpoint/2010/main" val="3415523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picture containing text&#10;&#10;Description automatically generated">
            <a:extLst>
              <a:ext uri="{FF2B5EF4-FFF2-40B4-BE49-F238E27FC236}">
                <a16:creationId xmlns:a16="http://schemas.microsoft.com/office/drawing/2014/main" id="{89A191E5-1BF4-42D2-BCE3-ED6D542096A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451011" y="4548583"/>
            <a:ext cx="2768083" cy="2316482"/>
          </a:xfrm>
          <a:prstGeom prst="rect">
            <a:avLst/>
          </a:prstGeom>
        </p:spPr>
      </p:pic>
      <p:pic>
        <p:nvPicPr>
          <p:cNvPr id="4" name="Picture 3">
            <a:hlinkClick r:id="rId4"/>
            <a:extLst>
              <a:ext uri="{FF2B5EF4-FFF2-40B4-BE49-F238E27FC236}">
                <a16:creationId xmlns:a16="http://schemas.microsoft.com/office/drawing/2014/main" id="{54194BAB-6E43-48B5-8D90-238AC6C7212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029825" y="2371710"/>
            <a:ext cx="259487" cy="259487"/>
          </a:xfrm>
          <a:prstGeom prst="rect">
            <a:avLst/>
          </a:prstGeom>
        </p:spPr>
      </p:pic>
      <p:pic>
        <p:nvPicPr>
          <p:cNvPr id="6" name="Picture 5">
            <a:hlinkClick r:id="rId6"/>
            <a:extLst>
              <a:ext uri="{FF2B5EF4-FFF2-40B4-BE49-F238E27FC236}">
                <a16:creationId xmlns:a16="http://schemas.microsoft.com/office/drawing/2014/main" id="{67B61486-3311-419A-A719-22EA0F41AA0E}"/>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029825" y="2790135"/>
            <a:ext cx="326480" cy="267714"/>
          </a:xfrm>
          <a:prstGeom prst="rect">
            <a:avLst/>
          </a:prstGeom>
        </p:spPr>
      </p:pic>
      <p:sp>
        <p:nvSpPr>
          <p:cNvPr id="7" name="Rectangle 6">
            <a:extLst>
              <a:ext uri="{FF2B5EF4-FFF2-40B4-BE49-F238E27FC236}">
                <a16:creationId xmlns:a16="http://schemas.microsoft.com/office/drawing/2014/main" id="{643D93CD-DBE4-406A-813B-BD27E7F87354}"/>
              </a:ext>
            </a:extLst>
          </p:cNvPr>
          <p:cNvSpPr/>
          <p:nvPr/>
        </p:nvSpPr>
        <p:spPr>
          <a:xfrm>
            <a:off x="5398315" y="2395470"/>
            <a:ext cx="1273105" cy="276999"/>
          </a:xfrm>
          <a:prstGeom prst="rect">
            <a:avLst/>
          </a:prstGeom>
        </p:spPr>
        <p:txBody>
          <a:bodyPr wrap="none">
            <a:spAutoFit/>
          </a:bodyPr>
          <a:lstStyle/>
          <a:p>
            <a:r>
              <a:rPr lang="en-US" sz="1200" dirty="0">
                <a:solidFill>
                  <a:schemeClr val="bg2">
                    <a:lumMod val="10000"/>
                  </a:schemeClr>
                </a:solidFill>
                <a:latin typeface="Helvetica Neue Thin"/>
                <a:hlinkClick r:id="rId4"/>
              </a:rPr>
              <a:t>pbpinternational</a:t>
            </a:r>
            <a:endParaRPr lang="en-US" sz="1200">
              <a:solidFill>
                <a:schemeClr val="bg2">
                  <a:lumMod val="10000"/>
                </a:schemeClr>
              </a:solidFill>
              <a:latin typeface="Helvetica Neue Thin"/>
            </a:endParaRPr>
          </a:p>
        </p:txBody>
      </p:sp>
      <p:sp>
        <p:nvSpPr>
          <p:cNvPr id="9" name="Rectangle 8">
            <a:extLst>
              <a:ext uri="{FF2B5EF4-FFF2-40B4-BE49-F238E27FC236}">
                <a16:creationId xmlns:a16="http://schemas.microsoft.com/office/drawing/2014/main" id="{EBB2EE81-87C6-4E64-A118-450B9EA8CD4C}"/>
              </a:ext>
            </a:extLst>
          </p:cNvPr>
          <p:cNvSpPr/>
          <p:nvPr/>
        </p:nvSpPr>
        <p:spPr>
          <a:xfrm>
            <a:off x="5392937" y="2808989"/>
            <a:ext cx="2331361" cy="276999"/>
          </a:xfrm>
          <a:prstGeom prst="rect">
            <a:avLst/>
          </a:prstGeom>
        </p:spPr>
        <p:txBody>
          <a:bodyPr wrap="square">
            <a:spAutoFit/>
          </a:bodyPr>
          <a:lstStyle/>
          <a:p>
            <a:r>
              <a:rPr lang="en-US" sz="1200" dirty="0">
                <a:latin typeface="Helvetica Neue Thin"/>
                <a:hlinkClick r:id="rId6"/>
              </a:rPr>
              <a:t>peace-by-piece-international</a:t>
            </a:r>
            <a:endParaRPr lang="en-US" sz="1200" dirty="0">
              <a:latin typeface="Helvetica Neue Thin"/>
            </a:endParaRPr>
          </a:p>
        </p:txBody>
      </p:sp>
      <p:sp>
        <p:nvSpPr>
          <p:cNvPr id="10" name="Rectangle 9">
            <a:hlinkClick r:id="rId8"/>
            <a:extLst>
              <a:ext uri="{FF2B5EF4-FFF2-40B4-BE49-F238E27FC236}">
                <a16:creationId xmlns:a16="http://schemas.microsoft.com/office/drawing/2014/main" id="{3FBD6D9D-C9F3-493E-B124-C060ADFD9DFA}"/>
              </a:ext>
            </a:extLst>
          </p:cNvPr>
          <p:cNvSpPr/>
          <p:nvPr/>
        </p:nvSpPr>
        <p:spPr>
          <a:xfrm>
            <a:off x="5398877" y="3234256"/>
            <a:ext cx="1273105" cy="276999"/>
          </a:xfrm>
          <a:prstGeom prst="rect">
            <a:avLst/>
          </a:prstGeom>
        </p:spPr>
        <p:txBody>
          <a:bodyPr wrap="none">
            <a:spAutoFit/>
          </a:bodyPr>
          <a:lstStyle/>
          <a:p>
            <a:r>
              <a:rPr lang="en-US" sz="1200" dirty="0">
                <a:latin typeface="Helvetica Neue Thin"/>
                <a:hlinkClick r:id="rId8"/>
              </a:rPr>
              <a:t>pbpinternational</a:t>
            </a:r>
            <a:endParaRPr lang="en-US" sz="1200">
              <a:latin typeface="Helvetica Neue Thin"/>
            </a:endParaRPr>
          </a:p>
        </p:txBody>
      </p:sp>
      <p:pic>
        <p:nvPicPr>
          <p:cNvPr id="11" name="Picture 10">
            <a:extLst>
              <a:ext uri="{FF2B5EF4-FFF2-40B4-BE49-F238E27FC236}">
                <a16:creationId xmlns:a16="http://schemas.microsoft.com/office/drawing/2014/main" id="{8A6DE128-3C42-49AA-B101-315D542DD172}"/>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058887" y="4382228"/>
            <a:ext cx="194945" cy="265100"/>
          </a:xfrm>
          <a:prstGeom prst="rect">
            <a:avLst/>
          </a:prstGeom>
          <a:noFill/>
        </p:spPr>
      </p:pic>
      <p:pic>
        <p:nvPicPr>
          <p:cNvPr id="12" name="Picture 11">
            <a:extLst>
              <a:ext uri="{FF2B5EF4-FFF2-40B4-BE49-F238E27FC236}">
                <a16:creationId xmlns:a16="http://schemas.microsoft.com/office/drawing/2014/main" id="{32A6420B-BAEC-4504-8E4B-713DFE04C67C}"/>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029163" y="4018923"/>
            <a:ext cx="279959" cy="225347"/>
          </a:xfrm>
          <a:prstGeom prst="rect">
            <a:avLst/>
          </a:prstGeom>
          <a:noFill/>
        </p:spPr>
      </p:pic>
      <p:sp>
        <p:nvSpPr>
          <p:cNvPr id="13" name="TextBox 12">
            <a:hlinkClick r:id="rId11"/>
            <a:extLst>
              <a:ext uri="{FF2B5EF4-FFF2-40B4-BE49-F238E27FC236}">
                <a16:creationId xmlns:a16="http://schemas.microsoft.com/office/drawing/2014/main" id="{D73EB1A1-2C04-491B-A5AE-3C52CC5984D1}"/>
              </a:ext>
            </a:extLst>
          </p:cNvPr>
          <p:cNvSpPr txBox="1"/>
          <p:nvPr/>
        </p:nvSpPr>
        <p:spPr>
          <a:xfrm>
            <a:off x="5398214" y="3624537"/>
            <a:ext cx="2048666" cy="276999"/>
          </a:xfrm>
          <a:prstGeom prst="rect">
            <a:avLst/>
          </a:prstGeom>
          <a:noFill/>
        </p:spPr>
        <p:txBody>
          <a:bodyPr wrap="square" rtlCol="0">
            <a:spAutoFit/>
          </a:bodyPr>
          <a:lstStyle/>
          <a:p>
            <a:r>
              <a:rPr lang="es-ES" sz="1200" dirty="0">
                <a:latin typeface="Helvetica Neue Thin"/>
              </a:rPr>
              <a:t>+1-408-684-8004</a:t>
            </a:r>
          </a:p>
        </p:txBody>
      </p:sp>
      <p:sp>
        <p:nvSpPr>
          <p:cNvPr id="14" name="TextBox 13">
            <a:hlinkClick r:id="rId11"/>
            <a:extLst>
              <a:ext uri="{FF2B5EF4-FFF2-40B4-BE49-F238E27FC236}">
                <a16:creationId xmlns:a16="http://schemas.microsoft.com/office/drawing/2014/main" id="{A992082D-4631-4E12-902A-99B3A70CBD78}"/>
              </a:ext>
            </a:extLst>
          </p:cNvPr>
          <p:cNvSpPr txBox="1"/>
          <p:nvPr/>
        </p:nvSpPr>
        <p:spPr>
          <a:xfrm>
            <a:off x="5398214" y="3991760"/>
            <a:ext cx="2505340" cy="276999"/>
          </a:xfrm>
          <a:prstGeom prst="rect">
            <a:avLst/>
          </a:prstGeom>
          <a:noFill/>
        </p:spPr>
        <p:txBody>
          <a:bodyPr wrap="square" rtlCol="0">
            <a:spAutoFit/>
          </a:bodyPr>
          <a:lstStyle/>
          <a:p>
            <a:r>
              <a:rPr lang="es-ES" sz="1200" dirty="0">
                <a:latin typeface="Helvetica Neue Thin"/>
                <a:hlinkClick r:id="rId12"/>
              </a:rPr>
              <a:t>hello@pbpinternational.com</a:t>
            </a:r>
            <a:endParaRPr lang="es-ES" sz="1200">
              <a:latin typeface="Helvetica Neue Thin"/>
            </a:endParaRPr>
          </a:p>
        </p:txBody>
      </p:sp>
      <p:sp>
        <p:nvSpPr>
          <p:cNvPr id="15" name="TextBox 14">
            <a:hlinkClick r:id="rId11"/>
            <a:extLst>
              <a:ext uri="{FF2B5EF4-FFF2-40B4-BE49-F238E27FC236}">
                <a16:creationId xmlns:a16="http://schemas.microsoft.com/office/drawing/2014/main" id="{1D23625B-E8E3-4539-85CC-EF8A43F67E27}"/>
              </a:ext>
            </a:extLst>
          </p:cNvPr>
          <p:cNvSpPr txBox="1"/>
          <p:nvPr/>
        </p:nvSpPr>
        <p:spPr>
          <a:xfrm>
            <a:off x="5398214" y="4376157"/>
            <a:ext cx="2143922" cy="276999"/>
          </a:xfrm>
          <a:prstGeom prst="rect">
            <a:avLst/>
          </a:prstGeom>
          <a:noFill/>
        </p:spPr>
        <p:txBody>
          <a:bodyPr wrap="square" rtlCol="0">
            <a:spAutoFit/>
          </a:bodyPr>
          <a:lstStyle/>
          <a:p>
            <a:r>
              <a:rPr lang="es-ES" sz="1200" dirty="0">
                <a:latin typeface="Helvetica Neue Thin"/>
              </a:rPr>
              <a:t>Los Gatos, CA  USA</a:t>
            </a:r>
          </a:p>
        </p:txBody>
      </p:sp>
      <p:pic>
        <p:nvPicPr>
          <p:cNvPr id="16" name="Picture 15">
            <a:extLst>
              <a:ext uri="{FF2B5EF4-FFF2-40B4-BE49-F238E27FC236}">
                <a16:creationId xmlns:a16="http://schemas.microsoft.com/office/drawing/2014/main" id="{23B1AF90-E214-4758-A445-89F07B795473}"/>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5033437" y="3213421"/>
            <a:ext cx="261850" cy="264791"/>
          </a:xfrm>
          <a:prstGeom prst="rect">
            <a:avLst/>
          </a:prstGeom>
        </p:spPr>
      </p:pic>
      <p:pic>
        <p:nvPicPr>
          <p:cNvPr id="18" name="Picture 17">
            <a:extLst>
              <a:ext uri="{FF2B5EF4-FFF2-40B4-BE49-F238E27FC236}">
                <a16:creationId xmlns:a16="http://schemas.microsoft.com/office/drawing/2014/main" id="{034A4239-A5B0-4B90-A5FF-2ECC60AC1912}"/>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flipH="1">
            <a:off x="5023887" y="3639338"/>
            <a:ext cx="260252" cy="239225"/>
          </a:xfrm>
          <a:prstGeom prst="rect">
            <a:avLst/>
          </a:prstGeom>
          <a:noFill/>
        </p:spPr>
      </p:pic>
      <p:pic>
        <p:nvPicPr>
          <p:cNvPr id="22" name="Picture 21" descr="A picture containing indoor&#10;&#10;Description automatically generated">
            <a:extLst>
              <a:ext uri="{FF2B5EF4-FFF2-40B4-BE49-F238E27FC236}">
                <a16:creationId xmlns:a16="http://schemas.microsoft.com/office/drawing/2014/main" id="{73921E2B-2CF8-4A94-B3C5-9109A27C5925}"/>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460833" y="1575535"/>
            <a:ext cx="2748440" cy="2061330"/>
          </a:xfrm>
          <a:prstGeom prst="rect">
            <a:avLst/>
          </a:prstGeom>
        </p:spPr>
      </p:pic>
      <p:pic>
        <p:nvPicPr>
          <p:cNvPr id="24" name="Picture 23" descr="A picture containing text, person, sitting, wall&#10;&#10;Description automatically generated">
            <a:extLst>
              <a:ext uri="{FF2B5EF4-FFF2-40B4-BE49-F238E27FC236}">
                <a16:creationId xmlns:a16="http://schemas.microsoft.com/office/drawing/2014/main" id="{2DA4FE53-1FF2-44AC-86E2-E6E13ED7E0D1}"/>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9461916" y="3363630"/>
            <a:ext cx="2747357" cy="1831571"/>
          </a:xfrm>
          <a:prstGeom prst="rect">
            <a:avLst/>
          </a:prstGeom>
        </p:spPr>
      </p:pic>
      <p:pic>
        <p:nvPicPr>
          <p:cNvPr id="23" name="Picture 22" descr="A picture containing candle&#10;&#10;Description automatically generated">
            <a:extLst>
              <a:ext uri="{FF2B5EF4-FFF2-40B4-BE49-F238E27FC236}">
                <a16:creationId xmlns:a16="http://schemas.microsoft.com/office/drawing/2014/main" id="{D8C2B831-ED32-4B02-8690-6818AEF7B4F3}"/>
              </a:ext>
            </a:extLst>
          </p:cNvPr>
          <p:cNvPicPr>
            <a:picLocks noChangeAspect="1"/>
          </p:cNvPicPr>
          <p:nvPr/>
        </p:nvPicPr>
        <p:blipFill rotWithShape="1">
          <a:blip r:embed="rId17" cstate="email">
            <a:extLst>
              <a:ext uri="{28A0092B-C50C-407E-A947-70E740481C1C}">
                <a14:useLocalDpi xmlns:a14="http://schemas.microsoft.com/office/drawing/2010/main"/>
              </a:ext>
            </a:extLst>
          </a:blip>
          <a:srcRect/>
          <a:stretch/>
        </p:blipFill>
        <p:spPr>
          <a:xfrm>
            <a:off x="9461916" y="-1"/>
            <a:ext cx="2730084" cy="1693767"/>
          </a:xfrm>
          <a:prstGeom prst="rect">
            <a:avLst/>
          </a:prstGeom>
        </p:spPr>
      </p:pic>
      <p:sp>
        <p:nvSpPr>
          <p:cNvPr id="21" name="Rectangle 20">
            <a:extLst>
              <a:ext uri="{FF2B5EF4-FFF2-40B4-BE49-F238E27FC236}">
                <a16:creationId xmlns:a16="http://schemas.microsoft.com/office/drawing/2014/main" id="{C64E6EFC-B6F6-3A3D-8E17-D61FBFF01D6B}"/>
              </a:ext>
            </a:extLst>
          </p:cNvPr>
          <p:cNvSpPr/>
          <p:nvPr/>
        </p:nvSpPr>
        <p:spPr>
          <a:xfrm>
            <a:off x="944500" y="2549514"/>
            <a:ext cx="3998811" cy="1631216"/>
          </a:xfrm>
          <a:prstGeom prst="rect">
            <a:avLst/>
          </a:prstGeom>
        </p:spPr>
        <p:txBody>
          <a:bodyPr wrap="square">
            <a:spAutoFit/>
          </a:bodyPr>
          <a:lstStyle/>
          <a:p>
            <a:pPr fontAlgn="base"/>
            <a:r>
              <a:rPr lang="en-US" sz="2000" b="1" dirty="0">
                <a:solidFill>
                  <a:srgbClr val="3A3A3A"/>
                </a:solidFill>
                <a:latin typeface="Calibri" panose="020F0502020204030204" pitchFamily="34" charset="0"/>
                <a:cs typeface="Calibri" panose="020F0502020204030204" pitchFamily="34" charset="0"/>
              </a:rPr>
              <a:t>Lauri Jones Pastrone</a:t>
            </a:r>
          </a:p>
          <a:p>
            <a:pPr fontAlgn="base"/>
            <a:r>
              <a:rPr lang="en-US" sz="2000" dirty="0">
                <a:solidFill>
                  <a:srgbClr val="3A3A3A"/>
                </a:solidFill>
                <a:latin typeface="Calibri" panose="020F0502020204030204" pitchFamily="34" charset="0"/>
                <a:cs typeface="Calibri" panose="020F0502020204030204" pitchFamily="34" charset="0"/>
                <a:hlinkClick r:id="rId18"/>
              </a:rPr>
              <a:t>Lauri@pbpinternational.com</a:t>
            </a:r>
            <a:r>
              <a:rPr lang="en-US" sz="2000" dirty="0">
                <a:solidFill>
                  <a:srgbClr val="3A3A3A"/>
                </a:solidFill>
                <a:latin typeface="Calibri" panose="020F0502020204030204" pitchFamily="34" charset="0"/>
                <a:cs typeface="Calibri" panose="020F0502020204030204" pitchFamily="34" charset="0"/>
              </a:rPr>
              <a:t> 			</a:t>
            </a:r>
          </a:p>
          <a:p>
            <a:pPr fontAlgn="base"/>
            <a:endParaRPr lang="en-US" sz="2000" dirty="0">
              <a:solidFill>
                <a:srgbClr val="3A3A3A"/>
              </a:solidFill>
              <a:latin typeface="Calibri" panose="020F0502020204030204" pitchFamily="34" charset="0"/>
              <a:cs typeface="Calibri" panose="020F0502020204030204" pitchFamily="34" charset="0"/>
            </a:endParaRPr>
          </a:p>
          <a:p>
            <a:pPr fontAlgn="base"/>
            <a:endParaRPr lang="en-US" sz="2000" dirty="0">
              <a:solidFill>
                <a:srgbClr val="3A3A3A"/>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FD302486-18A3-CFE3-A2D7-5F7FAE1A77C3}"/>
              </a:ext>
            </a:extLst>
          </p:cNvPr>
          <p:cNvSpPr txBox="1"/>
          <p:nvPr/>
        </p:nvSpPr>
        <p:spPr>
          <a:xfrm>
            <a:off x="944500" y="3863888"/>
            <a:ext cx="6147352" cy="707886"/>
          </a:xfrm>
          <a:prstGeom prst="rect">
            <a:avLst/>
          </a:prstGeom>
          <a:noFill/>
        </p:spPr>
        <p:txBody>
          <a:bodyPr wrap="square">
            <a:spAutoFit/>
          </a:bodyPr>
          <a:lstStyle/>
          <a:p>
            <a:pPr fontAlgn="base"/>
            <a:r>
              <a:rPr lang="en-US" sz="2000" b="1" dirty="0">
                <a:solidFill>
                  <a:srgbClr val="3A3A3A"/>
                </a:solidFill>
                <a:latin typeface="Calibri" panose="020F0502020204030204" pitchFamily="34" charset="0"/>
                <a:cs typeface="Calibri" panose="020F0502020204030204" pitchFamily="34" charset="0"/>
              </a:rPr>
              <a:t>Heide Lindgren</a:t>
            </a:r>
            <a:endParaRPr lang="en-US" sz="2000" dirty="0">
              <a:solidFill>
                <a:srgbClr val="3A3A3A"/>
              </a:solidFill>
              <a:latin typeface="Calibri" panose="020F0502020204030204" pitchFamily="34" charset="0"/>
              <a:cs typeface="Calibri" panose="020F0502020204030204" pitchFamily="34" charset="0"/>
            </a:endParaRPr>
          </a:p>
          <a:p>
            <a:pPr fontAlgn="base"/>
            <a:r>
              <a:rPr lang="en-US" sz="2000" dirty="0">
                <a:solidFill>
                  <a:srgbClr val="3A3A3A"/>
                </a:solidFill>
                <a:latin typeface="Calibri" panose="020F0502020204030204" pitchFamily="34" charset="0"/>
                <a:cs typeface="Calibri" panose="020F0502020204030204" pitchFamily="34" charset="0"/>
                <a:hlinkClick r:id="rId18"/>
              </a:rPr>
              <a:t>Heide@pbpinternational.com</a:t>
            </a:r>
            <a:r>
              <a:rPr lang="en-US" sz="2000" dirty="0">
                <a:solidFill>
                  <a:srgbClr val="3A3A3A"/>
                </a:solidFill>
                <a:latin typeface="Calibri" panose="020F0502020204030204" pitchFamily="34" charset="0"/>
                <a:cs typeface="Calibri" panose="020F0502020204030204" pitchFamily="34" charset="0"/>
              </a:rPr>
              <a:t> </a:t>
            </a:r>
            <a:endParaRPr lang="en-US" sz="2000" dirty="0">
              <a:latin typeface="Calibri" panose="020F0502020204030204" pitchFamily="34" charset="0"/>
              <a:cs typeface="Calibri" panose="020F0502020204030204" pitchFamily="34" charset="0"/>
            </a:endParaRPr>
          </a:p>
        </p:txBody>
      </p:sp>
      <p:pic>
        <p:nvPicPr>
          <p:cNvPr id="3" name="Picture 2" descr="A black text on a black background&#10;&#10;Description automatically generated">
            <a:extLst>
              <a:ext uri="{FF2B5EF4-FFF2-40B4-BE49-F238E27FC236}">
                <a16:creationId xmlns:a16="http://schemas.microsoft.com/office/drawing/2014/main" id="{5C2F0A62-5674-A6C8-DBCB-10FAEB9DD2A7}"/>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209165" y="6369721"/>
            <a:ext cx="1993565" cy="317019"/>
          </a:xfrm>
          <a:prstGeom prst="rect">
            <a:avLst/>
          </a:prstGeom>
        </p:spPr>
      </p:pic>
      <p:sp>
        <p:nvSpPr>
          <p:cNvPr id="5" name="Google Shape;153;p18">
            <a:extLst>
              <a:ext uri="{FF2B5EF4-FFF2-40B4-BE49-F238E27FC236}">
                <a16:creationId xmlns:a16="http://schemas.microsoft.com/office/drawing/2014/main" id="{608219FE-980F-20CC-C4FB-02B095F3ED8C}"/>
              </a:ext>
            </a:extLst>
          </p:cNvPr>
          <p:cNvSpPr txBox="1">
            <a:spLocks/>
          </p:cNvSpPr>
          <p:nvPr/>
        </p:nvSpPr>
        <p:spPr>
          <a:xfrm>
            <a:off x="452833" y="342150"/>
            <a:ext cx="11939428" cy="510745"/>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rgbClr val="3A3A3A"/>
              </a:buClr>
              <a:buSzPts val="3600"/>
            </a:pPr>
            <a:r>
              <a:rPr lang="en-US" sz="4000" dirty="0">
                <a:solidFill>
                  <a:srgbClr val="52D09D"/>
                </a:solidFill>
                <a:latin typeface="Impact"/>
                <a:ea typeface="Poppins"/>
                <a:cs typeface="Poppins"/>
                <a:sym typeface="Poppins"/>
              </a:rPr>
              <a:t>LET’S GET STARTED!</a:t>
            </a:r>
            <a:endParaRPr lang="en-US" sz="4000" i="1" dirty="0">
              <a:solidFill>
                <a:srgbClr val="52D09D"/>
              </a:solidFill>
              <a:latin typeface="Impact"/>
            </a:endParaRPr>
          </a:p>
        </p:txBody>
      </p:sp>
    </p:spTree>
    <p:extLst>
      <p:ext uri="{BB962C8B-B14F-4D97-AF65-F5344CB8AC3E}">
        <p14:creationId xmlns:p14="http://schemas.microsoft.com/office/powerpoint/2010/main" val="2537611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2887</TotalTime>
  <Words>852</Words>
  <Application>Microsoft Macintosh PowerPoint</Application>
  <PresentationFormat>Widescreen</PresentationFormat>
  <Paragraphs>97</Paragraphs>
  <Slides>12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STXingkai</vt:lpstr>
      <vt:lpstr>Aptos</vt:lpstr>
      <vt:lpstr>Aptos Display</vt:lpstr>
      <vt:lpstr>Arial</vt:lpstr>
      <vt:lpstr>Calibri</vt:lpstr>
      <vt:lpstr>Helvetica Neue Thin</vt:lpstr>
      <vt:lpstr>Impact</vt:lpstr>
      <vt:lpstr>Poppins</vt:lpstr>
      <vt:lpstr>office theme</vt:lpstr>
      <vt:lpstr>PowerPoint Presentation</vt:lpstr>
      <vt:lpstr>WHY PARTNER WITH PEACE BY PIECE?</vt:lpstr>
      <vt:lpstr>OUR THREE IMPACT TRACKS</vt:lpstr>
      <vt:lpstr>PowerPoint Presentation</vt:lpstr>
      <vt:lpstr>GIVE WHILE GIVING</vt:lpstr>
      <vt:lpstr>SOME IDEAS FOR YOU TO CONSIDER</vt:lpstr>
      <vt:lpstr>PowerPoint Presentation</vt:lpstr>
      <vt:lpstr>IMPACT CARDS -- BEHIND EVERY GIFT IS A STORY </vt:lpstr>
      <vt:lpstr>PowerPoint Presentation</vt:lpstr>
      <vt:lpstr>PRICING FOR CARDS &amp; KITTING</vt:lpstr>
      <vt:lpstr>TERMS AND CONDITIONS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Nicolo Pastrone</cp:lastModifiedBy>
  <cp:revision>331</cp:revision>
  <cp:lastPrinted>2025-09-29T18:05:29Z</cp:lastPrinted>
  <dcterms:created xsi:type="dcterms:W3CDTF">2024-07-10T02:17:16Z</dcterms:created>
  <dcterms:modified xsi:type="dcterms:W3CDTF">2025-11-05T20:54:54Z</dcterms:modified>
</cp:coreProperties>
</file>